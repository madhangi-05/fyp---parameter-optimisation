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30270450" cy="213836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2710" autoAdjust="0"/>
    <p:restoredTop sz="91088" autoAdjust="0"/>
  </p:normalViewPr>
  <p:slideViewPr>
    <p:cSldViewPr snapToGrid="0">
      <p:cViewPr>
        <p:scale>
          <a:sx n="35" d="100"/>
          <a:sy n="35" d="100"/>
        </p:scale>
        <p:origin x="1094" y="-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uresh Jaganathan" userId="ec8008bfc2cc2dbc" providerId="LiveId" clId="{924FB26C-2D2A-4505-917A-4469F2F25046}"/>
    <pc:docChg chg="undo custSel delSld modSld">
      <pc:chgData name="Dr. Suresh Jaganathan" userId="ec8008bfc2cc2dbc" providerId="LiveId" clId="{924FB26C-2D2A-4505-917A-4469F2F25046}" dt="2026-10-10T11:50:20.410" v="37" actId="14100"/>
      <pc:docMkLst>
        <pc:docMk/>
      </pc:docMkLst>
      <pc:sldChg chg="del">
        <pc:chgData name="Dr. Suresh Jaganathan" userId="ec8008bfc2cc2dbc" providerId="LiveId" clId="{924FB26C-2D2A-4505-917A-4469F2F25046}" dt="2026-10-10T11:45:55.128" v="0" actId="47"/>
        <pc:sldMkLst>
          <pc:docMk/>
          <pc:sldMk cId="1550836097" sldId="256"/>
        </pc:sldMkLst>
      </pc:sldChg>
      <pc:sldChg chg="delSp modSp mod">
        <pc:chgData name="Dr. Suresh Jaganathan" userId="ec8008bfc2cc2dbc" providerId="LiveId" clId="{924FB26C-2D2A-4505-917A-4469F2F25046}" dt="2026-10-10T11:50:20.410" v="37" actId="14100"/>
        <pc:sldMkLst>
          <pc:docMk/>
          <pc:sldMk cId="145654216" sldId="257"/>
        </pc:sldMkLst>
        <pc:spChg chg="mod">
          <ac:chgData name="Dr. Suresh Jaganathan" userId="ec8008bfc2cc2dbc" providerId="LiveId" clId="{924FB26C-2D2A-4505-917A-4469F2F25046}" dt="2026-10-10T11:50:20.410" v="37" actId="14100"/>
          <ac:spMkLst>
            <pc:docMk/>
            <pc:sldMk cId="145654216" sldId="257"/>
            <ac:spMk id="2" creationId="{134B97AB-EAA0-4CF8-AE0D-6C54179B12FF}"/>
          </ac:spMkLst>
        </pc:spChg>
        <pc:spChg chg="del">
          <ac:chgData name="Dr. Suresh Jaganathan" userId="ec8008bfc2cc2dbc" providerId="LiveId" clId="{924FB26C-2D2A-4505-917A-4469F2F25046}" dt="2026-10-10T11:46:00.926" v="1" actId="478"/>
          <ac:spMkLst>
            <pc:docMk/>
            <pc:sldMk cId="145654216" sldId="257"/>
            <ac:spMk id="3" creationId="{5C39793F-80DF-4B0A-AEAF-354F34B514A1}"/>
          </ac:spMkLst>
        </pc:spChg>
        <pc:spChg chg="mod">
          <ac:chgData name="Dr. Suresh Jaganathan" userId="ec8008bfc2cc2dbc" providerId="LiveId" clId="{924FB26C-2D2A-4505-917A-4469F2F25046}" dt="2026-10-10T11:46:17.734" v="5" actId="122"/>
          <ac:spMkLst>
            <pc:docMk/>
            <pc:sldMk cId="145654216" sldId="257"/>
            <ac:spMk id="4" creationId="{F84BE3C1-6532-4064-8A34-AD48A213199C}"/>
          </ac:spMkLst>
        </pc:spChg>
        <pc:spChg chg="mod">
          <ac:chgData name="Dr. Suresh Jaganathan" userId="ec8008bfc2cc2dbc" providerId="LiveId" clId="{924FB26C-2D2A-4505-917A-4469F2F25046}" dt="2026-10-10T11:46:20.748" v="6" actId="122"/>
          <ac:spMkLst>
            <pc:docMk/>
            <pc:sldMk cId="145654216" sldId="257"/>
            <ac:spMk id="5" creationId="{8426F9BF-2F9C-41CC-9001-4E47FE1DB6F1}"/>
          </ac:spMkLst>
        </pc:spChg>
        <pc:spChg chg="mod">
          <ac:chgData name="Dr. Suresh Jaganathan" userId="ec8008bfc2cc2dbc" providerId="LiveId" clId="{924FB26C-2D2A-4505-917A-4469F2F25046}" dt="2026-10-10T11:46:23.093" v="7" actId="122"/>
          <ac:spMkLst>
            <pc:docMk/>
            <pc:sldMk cId="145654216" sldId="257"/>
            <ac:spMk id="6" creationId="{6BEE576D-3470-490F-885A-1EADA154C392}"/>
          </ac:spMkLst>
        </pc:spChg>
        <pc:spChg chg="mod">
          <ac:chgData name="Dr. Suresh Jaganathan" userId="ec8008bfc2cc2dbc" providerId="LiveId" clId="{924FB26C-2D2A-4505-917A-4469F2F25046}" dt="2026-10-10T11:47:51.276" v="26" actId="1076"/>
          <ac:spMkLst>
            <pc:docMk/>
            <pc:sldMk cId="145654216" sldId="257"/>
            <ac:spMk id="10" creationId="{C709682E-49D1-4DAB-9C3E-88B3479F0B02}"/>
          </ac:spMkLst>
        </pc:spChg>
        <pc:spChg chg="mod">
          <ac:chgData name="Dr. Suresh Jaganathan" userId="ec8008bfc2cc2dbc" providerId="LiveId" clId="{924FB26C-2D2A-4505-917A-4469F2F25046}" dt="2026-10-10T11:47:34.775" v="22" actId="14100"/>
          <ac:spMkLst>
            <pc:docMk/>
            <pc:sldMk cId="145654216" sldId="257"/>
            <ac:spMk id="14" creationId="{6931E5D3-CCF5-403D-B84E-EDA393E72F73}"/>
          </ac:spMkLst>
        </pc:spChg>
        <pc:spChg chg="mod">
          <ac:chgData name="Dr. Suresh Jaganathan" userId="ec8008bfc2cc2dbc" providerId="LiveId" clId="{924FB26C-2D2A-4505-917A-4469F2F25046}" dt="2026-10-10T11:47:53.500" v="27" actId="1076"/>
          <ac:spMkLst>
            <pc:docMk/>
            <pc:sldMk cId="145654216" sldId="257"/>
            <ac:spMk id="15" creationId="{13492EBB-FB81-4A77-98EF-2CB2DA01FEC1}"/>
          </ac:spMkLst>
        </pc:spChg>
        <pc:spChg chg="mod">
          <ac:chgData name="Dr. Suresh Jaganathan" userId="ec8008bfc2cc2dbc" providerId="LiveId" clId="{924FB26C-2D2A-4505-917A-4469F2F25046}" dt="2026-10-10T11:49:45.559" v="34" actId="14100"/>
          <ac:spMkLst>
            <pc:docMk/>
            <pc:sldMk cId="145654216" sldId="257"/>
            <ac:spMk id="17" creationId="{BA0C4176-29A0-40AD-89BA-A05B9C0CEEF0}"/>
          </ac:spMkLst>
        </pc:spChg>
        <pc:spChg chg="mod">
          <ac:chgData name="Dr. Suresh Jaganathan" userId="ec8008bfc2cc2dbc" providerId="LiveId" clId="{924FB26C-2D2A-4505-917A-4469F2F25046}" dt="2026-10-10T11:48:49.883" v="33" actId="1076"/>
          <ac:spMkLst>
            <pc:docMk/>
            <pc:sldMk cId="145654216" sldId="257"/>
            <ac:spMk id="22" creationId="{72FEF28A-94D2-421C-A1D0-8DAB170FC3C8}"/>
          </ac:spMkLst>
        </pc:spChg>
        <pc:spChg chg="mod">
          <ac:chgData name="Dr. Suresh Jaganathan" userId="ec8008bfc2cc2dbc" providerId="LiveId" clId="{924FB26C-2D2A-4505-917A-4469F2F25046}" dt="2026-10-10T11:48:44.307" v="32" actId="1076"/>
          <ac:spMkLst>
            <pc:docMk/>
            <pc:sldMk cId="145654216" sldId="257"/>
            <ac:spMk id="24" creationId="{DA2FEC55-E2BE-4A31-AF36-13C6B111FAB4}"/>
          </ac:spMkLst>
        </pc:spChg>
        <pc:spChg chg="mod">
          <ac:chgData name="Dr. Suresh Jaganathan" userId="ec8008bfc2cc2dbc" providerId="LiveId" clId="{924FB26C-2D2A-4505-917A-4469F2F25046}" dt="2026-10-10T11:46:44.242" v="15" actId="403"/>
          <ac:spMkLst>
            <pc:docMk/>
            <pc:sldMk cId="145654216" sldId="257"/>
            <ac:spMk id="32" creationId="{E89A2640-B5DB-48AA-A002-059B5158C160}"/>
          </ac:spMkLst>
        </pc:spChg>
        <pc:spChg chg="mod">
          <ac:chgData name="Dr. Suresh Jaganathan" userId="ec8008bfc2cc2dbc" providerId="LiveId" clId="{924FB26C-2D2A-4505-917A-4469F2F25046}" dt="2026-10-10T11:47:27.853" v="21" actId="14100"/>
          <ac:spMkLst>
            <pc:docMk/>
            <pc:sldMk cId="145654216" sldId="257"/>
            <ac:spMk id="37" creationId="{B825398C-3094-6C2E-F51B-7E7DE07004CA}"/>
          </ac:spMkLst>
        </pc:spChg>
        <pc:spChg chg="mod">
          <ac:chgData name="Dr. Suresh Jaganathan" userId="ec8008bfc2cc2dbc" providerId="LiveId" clId="{924FB26C-2D2A-4505-917A-4469F2F25046}" dt="2026-10-10T11:47:40.433" v="25" actId="20577"/>
          <ac:spMkLst>
            <pc:docMk/>
            <pc:sldMk cId="145654216" sldId="257"/>
            <ac:spMk id="38" creationId="{68D29E1E-0E39-FF0F-E884-F97E918FB502}"/>
          </ac:spMkLst>
        </pc:spChg>
        <pc:picChg chg="mod">
          <ac:chgData name="Dr. Suresh Jaganathan" userId="ec8008bfc2cc2dbc" providerId="LiveId" clId="{924FB26C-2D2A-4505-917A-4469F2F25046}" dt="2026-10-10T11:46:51.294" v="17" actId="1076"/>
          <ac:picMkLst>
            <pc:docMk/>
            <pc:sldMk cId="145654216" sldId="257"/>
            <ac:picMk id="34" creationId="{0EF0BD8F-825E-A2C0-2525-FD1B64C0E6D0}"/>
          </ac:picMkLst>
        </pc:picChg>
        <pc:cxnChg chg="mod">
          <ac:chgData name="Dr. Suresh Jaganathan" userId="ec8008bfc2cc2dbc" providerId="LiveId" clId="{924FB26C-2D2A-4505-917A-4469F2F25046}" dt="2026-10-10T11:47:07.628" v="19" actId="14100"/>
          <ac:cxnSpMkLst>
            <pc:docMk/>
            <pc:sldMk cId="145654216" sldId="257"/>
            <ac:cxnSpMk id="36" creationId="{E2410E94-B0D4-BEC6-A47D-1F1B0E9BD3D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521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2F826D9-3ED3-4ECA-9A68-9A93C5F2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45" y="8078258"/>
            <a:ext cx="24216360" cy="308874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7786D3D-EAC0-4559-A205-F091E9692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0568" y="11760994"/>
            <a:ext cx="21189315" cy="237595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0D23FFE-B32F-46B0-9F74-4AED26BE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45" y="8909844"/>
            <a:ext cx="24216360" cy="356393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4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63F40F8-5937-4F78-B190-85337946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29C7129-A9B9-4E7E-90A2-23434D257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26865024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91E6C8B-B81F-4693-9984-9640B835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5683F3A-81C5-43FE-A0E3-544541792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677A5B2-8C77-4BCB-93C6-32232E34CFC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081177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68C1F1A-566D-48A6-AB6C-1531BF10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A82C079-3AE7-4C2B-B0D3-03D6EDB8C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89A2640-B5DB-48AA-A002-059B5158C160}"/>
              </a:ext>
            </a:extLst>
          </p:cNvPr>
          <p:cNvSpPr>
            <a:spLocks noGrp="1"/>
          </p:cNvSpPr>
          <p:nvPr/>
        </p:nvSpPr>
        <p:spPr>
          <a:xfrm>
            <a:off x="2857500" y="174457"/>
            <a:ext cx="24574500" cy="89234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0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Sri Sivasubramaniya Nadar College of 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B97AB-EAA0-4CF8-AE0D-6C54179B12FF}"/>
              </a:ext>
            </a:extLst>
          </p:cNvPr>
          <p:cNvSpPr>
            <a:spLocks noGrp="1"/>
          </p:cNvSpPr>
          <p:nvPr/>
        </p:nvSpPr>
        <p:spPr>
          <a:xfrm>
            <a:off x="2857500" y="1042236"/>
            <a:ext cx="24574500" cy="578268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3600" b="0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Department of Computer Science and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4BE3C1-6532-4064-8A34-AD48A213199C}"/>
              </a:ext>
            </a:extLst>
          </p:cNvPr>
          <p:cNvSpPr>
            <a:spLocks noGrp="1"/>
          </p:cNvSpPr>
          <p:nvPr/>
        </p:nvSpPr>
        <p:spPr>
          <a:xfrm>
            <a:off x="619125" y="1795462"/>
            <a:ext cx="29032200" cy="99536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85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585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lang="en-IN" sz="480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Noise-Aware Geometry-Guided </a:t>
            </a:r>
            <a:r>
              <a:rPr lang="en-IN" sz="4800" dirty="0" err="1">
                <a:solidFill>
                  <a:srgbClr val="15354B"/>
                </a:solidFill>
                <a:latin typeface="Arial"/>
                <a:ea typeface="Arial"/>
                <a:cs typeface="Arial"/>
              </a:rPr>
              <a:t>GraphNeural</a:t>
            </a:r>
            <a:r>
              <a:rPr lang="en-IN" sz="480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 Initialization for Variational Quantum </a:t>
            </a:r>
            <a:r>
              <a:rPr lang="en-IN" sz="4800" dirty="0" err="1">
                <a:solidFill>
                  <a:srgbClr val="15354B"/>
                </a:solidFill>
                <a:latin typeface="Arial"/>
                <a:ea typeface="Arial"/>
                <a:cs typeface="Arial"/>
              </a:rPr>
              <a:t>Eigensolvers</a:t>
            </a:r>
            <a:endParaRPr lang="en-IN" sz="480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 algn="ctr">
              <a:defRPr sz="585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endParaRPr sz="4800" b="1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26F9BF-2F9C-41CC-9001-4E47FE1DB6F1}"/>
              </a:ext>
            </a:extLst>
          </p:cNvPr>
          <p:cNvSpPr>
            <a:spLocks noGrp="1"/>
          </p:cNvSpPr>
          <p:nvPr/>
        </p:nvSpPr>
        <p:spPr>
          <a:xfrm>
            <a:off x="619125" y="2781300"/>
            <a:ext cx="290322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75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lang="en-IN" sz="2475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R.K. Barath</a:t>
            </a:r>
            <a:r>
              <a:rPr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, </a:t>
            </a:r>
            <a:r>
              <a:rPr lang="en-IN"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3122235001029</a:t>
            </a:r>
            <a:r>
              <a:rPr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IN"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       </a:t>
            </a:r>
            <a:r>
              <a:rPr lang="en-IN" sz="2475" b="0" dirty="0" err="1">
                <a:solidFill>
                  <a:srgbClr val="15354B"/>
                </a:solidFill>
                <a:latin typeface="Arial"/>
                <a:ea typeface="Arial"/>
                <a:cs typeface="Arial"/>
              </a:rPr>
              <a:t>Madhangi</a:t>
            </a:r>
            <a:r>
              <a:rPr lang="en-IN"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2475" b="0" dirty="0" err="1">
                <a:solidFill>
                  <a:srgbClr val="15354B"/>
                </a:solidFill>
                <a:latin typeface="Arial"/>
                <a:ea typeface="Arial"/>
                <a:cs typeface="Arial"/>
              </a:rPr>
              <a:t>Karimanal</a:t>
            </a:r>
            <a:r>
              <a:rPr lang="en-IN"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, 3122235001073           Nithyasree K</a:t>
            </a:r>
            <a:r>
              <a:rPr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, </a:t>
            </a:r>
            <a:r>
              <a:rPr lang="en-IN"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3122235001092</a:t>
            </a:r>
            <a:r>
              <a:rPr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E576D-3470-490F-885A-1EADA154C392}"/>
              </a:ext>
            </a:extLst>
          </p:cNvPr>
          <p:cNvSpPr>
            <a:spLocks noGrp="1"/>
          </p:cNvSpPr>
          <p:nvPr/>
        </p:nvSpPr>
        <p:spPr>
          <a:xfrm>
            <a:off x="619125" y="3433762"/>
            <a:ext cx="290322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2475" b="0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Guide: </a:t>
            </a:r>
            <a:r>
              <a:rPr lang="en-IN" sz="2475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 Dr. Sneka Nandhini, Assistant Professor, Department of Computer Science</a:t>
            </a:r>
            <a:endParaRPr sz="2475" b="0" dirty="0">
              <a:solidFill>
                <a:srgbClr val="5065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9682E-49D1-4DAB-9C3E-88B3479F0B02}"/>
              </a:ext>
            </a:extLst>
          </p:cNvPr>
          <p:cNvSpPr>
            <a:spLocks noGrp="1"/>
          </p:cNvSpPr>
          <p:nvPr/>
        </p:nvSpPr>
        <p:spPr>
          <a:xfrm>
            <a:off x="562977" y="4330991"/>
            <a:ext cx="839353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Problem </a:t>
            </a: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Statement &amp; Objectives 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CF8B3E-6614-4FCE-8177-49E1ABD94E2E}"/>
              </a:ext>
            </a:extLst>
          </p:cNvPr>
          <p:cNvSpPr>
            <a:spLocks noGrp="1"/>
          </p:cNvSpPr>
          <p:nvPr/>
        </p:nvSpPr>
        <p:spPr>
          <a:xfrm>
            <a:off x="579413" y="4786285"/>
            <a:ext cx="8393530" cy="6364581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87F8C"/>
                </a:solidFill>
                <a:latin typeface="Arial"/>
                <a:cs typeface="Arial"/>
              </a:rPr>
              <a:t>Problem</a:t>
            </a:r>
            <a:r>
              <a:rPr lang="en-US" sz="2400" b="1" dirty="0">
                <a:solidFill>
                  <a:srgbClr val="087F8C"/>
                </a:solidFill>
                <a:latin typeface="Arial"/>
                <a:cs typeface="Arial"/>
              </a:rPr>
              <a:t> Statement</a:t>
            </a:r>
            <a:r>
              <a:rPr sz="2400" b="1" dirty="0">
                <a:solidFill>
                  <a:srgbClr val="087F8C"/>
                </a:solidFill>
                <a:latin typeface="Arial"/>
                <a:cs typeface="Arial"/>
              </a:rPr>
              <a:t>:</a:t>
            </a:r>
            <a:endParaRPr lang="en-US" sz="2400" b="1" dirty="0">
              <a:solidFill>
                <a:srgbClr val="087F8C"/>
              </a:solidFill>
              <a:latin typeface="Arial"/>
              <a:cs typeface="Arial"/>
            </a:endParaRPr>
          </a:p>
          <a:p>
            <a:r>
              <a:rPr lang="en-IN" sz="240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Noise-Aware Geometry-Guided </a:t>
            </a:r>
            <a:r>
              <a:rPr lang="en-IN" sz="2400" dirty="0" err="1">
                <a:solidFill>
                  <a:srgbClr val="15354B"/>
                </a:solidFill>
                <a:latin typeface="Arial"/>
                <a:ea typeface="Arial"/>
                <a:cs typeface="Arial"/>
              </a:rPr>
              <a:t>GraphNeural</a:t>
            </a:r>
            <a:r>
              <a:rPr lang="en-IN" sz="240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 Initialization for Variational Quantum </a:t>
            </a:r>
            <a:r>
              <a:rPr lang="en-IN" sz="2400" dirty="0" err="1">
                <a:solidFill>
                  <a:srgbClr val="15354B"/>
                </a:solidFill>
                <a:latin typeface="Arial"/>
                <a:ea typeface="Arial"/>
                <a:cs typeface="Arial"/>
              </a:rPr>
              <a:t>Eigensolvers</a:t>
            </a:r>
            <a:endParaRPr lang="en-IN" sz="240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endParaRPr sz="2400" b="1" dirty="0">
              <a:solidFill>
                <a:srgbClr val="087F8C"/>
              </a:solidFill>
              <a:latin typeface="Arial"/>
              <a:cs typeface="Arial"/>
            </a:endParaRPr>
          </a:p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87F8C"/>
                </a:solidFill>
                <a:latin typeface="Arial"/>
                <a:cs typeface="Arial"/>
              </a:rPr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2"/>
                </a:solidFill>
              </a:rPr>
              <a:t>Establish the Baseline:</a:t>
            </a:r>
            <a:r>
              <a:rPr lang="en-IN" sz="2400" dirty="0">
                <a:solidFill>
                  <a:schemeClr val="tx2"/>
                </a:solidFill>
              </a:rPr>
              <a:t> Reproduce the </a:t>
            </a:r>
            <a:r>
              <a:rPr lang="en-IN" sz="2400" b="1" dirty="0" err="1">
                <a:solidFill>
                  <a:schemeClr val="tx2"/>
                </a:solidFill>
              </a:rPr>
              <a:t>VQEzy</a:t>
            </a:r>
            <a:r>
              <a:rPr lang="en-IN" sz="2400" b="1" dirty="0">
                <a:solidFill>
                  <a:schemeClr val="tx2"/>
                </a:solidFill>
              </a:rPr>
              <a:t> dataset procedure</a:t>
            </a:r>
            <a:r>
              <a:rPr lang="en-IN" sz="2400" dirty="0">
                <a:solidFill>
                  <a:schemeClr val="tx2"/>
                </a:solidFill>
              </a:rPr>
              <a:t> using VQE+QNGD from random starts with realistic hardware execution accounting.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2"/>
                </a:solidFill>
              </a:rPr>
              <a:t>Design the GNN Initializer:</a:t>
            </a:r>
            <a:r>
              <a:rPr lang="en-IN" sz="2400" dirty="0">
                <a:solidFill>
                  <a:schemeClr val="tx2"/>
                </a:solidFill>
              </a:rPr>
              <a:t> Implement a </a:t>
            </a:r>
            <a:r>
              <a:rPr lang="en-IN" sz="2400" b="1" dirty="0">
                <a:solidFill>
                  <a:schemeClr val="tx2"/>
                </a:solidFill>
              </a:rPr>
              <a:t>three-graph GNN</a:t>
            </a:r>
            <a:r>
              <a:rPr lang="en-IN" sz="2400" dirty="0">
                <a:solidFill>
                  <a:schemeClr val="tx2"/>
                </a:solidFill>
              </a:rPr>
              <a:t> that fuses Hamiltonian, ansatz, and hardware/noise graphs using cross-attention to predict initial parameters.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2"/>
                </a:solidFill>
              </a:rPr>
              <a:t>Implement Label-Free Training:</a:t>
            </a:r>
            <a:r>
              <a:rPr lang="en-IN" sz="2400" dirty="0">
                <a:solidFill>
                  <a:schemeClr val="tx2"/>
                </a:solidFill>
              </a:rPr>
              <a:t> Train the initializer </a:t>
            </a:r>
            <a:r>
              <a:rPr lang="en-IN" sz="2400" b="1" dirty="0">
                <a:solidFill>
                  <a:schemeClr val="tx2"/>
                </a:solidFill>
              </a:rPr>
              <a:t>without labels</a:t>
            </a:r>
            <a:r>
              <a:rPr lang="en-IN" sz="2400" dirty="0">
                <a:solidFill>
                  <a:schemeClr val="tx2"/>
                </a:solidFill>
              </a:rPr>
              <a:t> by unrolling the optimizer and quantifying the training objective's impact.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2"/>
                </a:solidFill>
              </a:rPr>
              <a:t>Evaluate Noise Awareness:</a:t>
            </a:r>
            <a:r>
              <a:rPr lang="en-IN" sz="2400" dirty="0">
                <a:solidFill>
                  <a:schemeClr val="tx2"/>
                </a:solidFill>
              </a:rPr>
              <a:t> Build a </a:t>
            </a:r>
            <a:r>
              <a:rPr lang="en-IN" sz="2400" b="1" dirty="0">
                <a:solidFill>
                  <a:schemeClr val="tx2"/>
                </a:solidFill>
              </a:rPr>
              <a:t>hardware-driven noise model</a:t>
            </a:r>
            <a:r>
              <a:rPr lang="en-IN" sz="2400" dirty="0">
                <a:solidFill>
                  <a:schemeClr val="tx2"/>
                </a:solidFill>
              </a:rPr>
              <a:t> to test noise-unaware and noise-aware variants in both noiseless and noisy environments.</a:t>
            </a: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endParaRPr sz="240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45C2B-38B5-4B73-945F-5B1E00D6EB36}"/>
              </a:ext>
            </a:extLst>
          </p:cNvPr>
          <p:cNvSpPr>
            <a:spLocks noGrp="1"/>
          </p:cNvSpPr>
          <p:nvPr/>
        </p:nvSpPr>
        <p:spPr>
          <a:xfrm>
            <a:off x="579413" y="11150866"/>
            <a:ext cx="8634162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Related work and research gap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31E5D3-CCF5-403D-B84E-EDA393E72F73}"/>
              </a:ext>
            </a:extLst>
          </p:cNvPr>
          <p:cNvSpPr>
            <a:spLocks noGrp="1"/>
          </p:cNvSpPr>
          <p:nvPr/>
        </p:nvSpPr>
        <p:spPr>
          <a:xfrm>
            <a:off x="619125" y="18305610"/>
            <a:ext cx="7875202" cy="3047122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87F8C"/>
                </a:solidFill>
                <a:latin typeface="Arial"/>
                <a:cs typeface="Arial"/>
              </a:rPr>
              <a:t>Research gap: </a:t>
            </a:r>
            <a:endParaRPr lang="en-IN" sz="2400" b="1" dirty="0">
              <a:solidFill>
                <a:srgbClr val="087F8C"/>
              </a:solidFill>
              <a:latin typeface="Arial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lang="en-US" sz="255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No method jointly represents Hamiltonian, ansatz and hardware/noise as separate, fused graphs</a:t>
            </a:r>
          </a:p>
          <a:p>
            <a:pPr marL="457200" indent="-457200">
              <a:buFont typeface="Arial" panose="020B0604020202020204" pitchFamily="34" charset="0"/>
              <a:buChar char="•"/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lang="en-US" sz="255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No method predicts both </a:t>
            </a:r>
            <a:r>
              <a:rPr lang="el-GR" sz="255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θ0 </a:t>
            </a:r>
            <a:r>
              <a:rPr lang="en-US" sz="255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and a local approximation of the QNGD geometric metric</a:t>
            </a:r>
          </a:p>
          <a:p>
            <a:pPr marL="457200" indent="-457200">
              <a:buFont typeface="Arial" panose="020B0604020202020204" pitchFamily="34" charset="0"/>
              <a:buChar char="•"/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lang="en-US" sz="255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No method couples this with </a:t>
            </a:r>
            <a:r>
              <a:rPr lang="en-US" sz="2550" dirty="0" err="1">
                <a:solidFill>
                  <a:srgbClr val="15354B"/>
                </a:solidFill>
                <a:latin typeface="Arial"/>
                <a:ea typeface="Arial"/>
                <a:cs typeface="Arial"/>
              </a:rPr>
              <a:t>anadaptive</a:t>
            </a:r>
            <a:r>
              <a:rPr lang="en-US" sz="255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, geometry-aware </a:t>
            </a:r>
            <a:r>
              <a:rPr lang="en-US" sz="2550" dirty="0" err="1">
                <a:solidFill>
                  <a:srgbClr val="15354B"/>
                </a:solidFill>
                <a:latin typeface="Arial"/>
                <a:ea typeface="Arial"/>
                <a:cs typeface="Arial"/>
              </a:rPr>
              <a:t>refinementloop</a:t>
            </a:r>
            <a:r>
              <a:rPr lang="en-US" sz="255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 to cut circuit evaluations</a:t>
            </a:r>
            <a:endParaRPr lang="en-US"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492EBB-FB81-4A77-98EF-2CB2DA01FEC1}"/>
              </a:ext>
            </a:extLst>
          </p:cNvPr>
          <p:cNvSpPr>
            <a:spLocks noGrp="1"/>
          </p:cNvSpPr>
          <p:nvPr/>
        </p:nvSpPr>
        <p:spPr>
          <a:xfrm>
            <a:off x="9170833" y="4160356"/>
            <a:ext cx="1063190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A233BF-2C9A-4304-A813-E05EC8CAE992}"/>
              </a:ext>
            </a:extLst>
          </p:cNvPr>
          <p:cNvSpPr>
            <a:spLocks noGrp="1"/>
          </p:cNvSpPr>
          <p:nvPr/>
        </p:nvSpPr>
        <p:spPr>
          <a:xfrm>
            <a:off x="8953157" y="12621780"/>
            <a:ext cx="1061837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Functional Modules and Dataset Description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367AA02-E748-43E1-B136-4C980B6807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07172" y="13244049"/>
                <a:ext cx="10618370" cy="177465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550" b="0">
                    <a:solidFill>
                      <a:srgbClr val="15354B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>
                  <a:defRPr sz="3300" b="1">
                    <a:solidFill>
                      <a:srgbClr val="087F8C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IN" sz="2400" b="1" dirty="0">
                    <a:solidFill>
                      <a:srgbClr val="087F8C"/>
                    </a:solidFill>
                    <a:latin typeface="Arial"/>
                    <a:cs typeface="Arial"/>
                  </a:rPr>
                  <a:t>Modules</a:t>
                </a:r>
              </a:p>
              <a:p>
                <a:pPr lvl="0"/>
                <a:r>
                  <a:rPr lang="en-IN" sz="24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1: Data and Graph Construction</a:t>
                </a: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Converts </a:t>
                </a:r>
                <a:r>
                  <a:rPr lang="en-IN" sz="2400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VQEzy</a:t>
                </a: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dataset instances into structured graphs and establishes fixed, noise-varied experimental splits.</a:t>
                </a:r>
              </a:p>
              <a:p>
                <a:pPr lvl="0"/>
                <a:r>
                  <a:rPr lang="en-IN" sz="24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2: Quantum Simulation &amp; Noise Model</a:t>
                </a: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Computes fast, batched energies, gradients, and QNGD steps using a custom </a:t>
                </a:r>
                <a:r>
                  <a:rPr lang="en-IN" sz="2400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PyTorch</a:t>
                </a: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density-matrix simulator validated against PennyLane.</a:t>
                </a:r>
              </a:p>
              <a:p>
                <a:pPr lvl="0"/>
                <a:r>
                  <a:rPr lang="en-IN" sz="24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3: GNN Initializer (Core Model)</a:t>
                </a: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Predicts optimal initial parameters  from graphs using three GAT encoders(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) and a two-stage cross-attention fusion mechanism.</a:t>
                </a:r>
              </a:p>
              <a:p>
                <a:pPr lvl="0"/>
                <a:r>
                  <a:rPr lang="en-US" sz="24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4: Label-Free Training</a:t>
                </a:r>
                <a:r>
                  <a:rPr 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Optimizes the GNN without pre-calculated parameter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labels by unrolling </a:t>
                </a:r>
                <a:r>
                  <a:rPr lang="en-US" sz="2400" b="1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optimization steps directly against the simulated energy landscape.</a:t>
                </a:r>
              </a:p>
              <a:p>
                <a:pPr lvl="0"/>
                <a:r>
                  <a:rPr lang="en-US" sz="24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5: VQE Optimization &amp; Evaluation</a:t>
                </a:r>
                <a:r>
                  <a:rPr 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Runs the baseline and GNN-initialized VQE optimizations over the test split, tracking circuit counts and final energy trajectories.</a:t>
                </a:r>
              </a:p>
              <a:p>
                <a:pPr lvl="0"/>
                <a:endParaRPr lang="en-US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solidFill>
                    <a:srgbClr val="15354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367AA02-E748-43E1-B136-4C980B680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172" y="13244049"/>
                <a:ext cx="10618370" cy="1774659"/>
              </a:xfrm>
              <a:prstGeom prst="rect">
                <a:avLst/>
              </a:prstGeom>
              <a:blipFill>
                <a:blip r:embed="rId3"/>
                <a:stretch>
                  <a:fillRect l="-919" t="-2405" r="-1493" b="-222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72FEF28A-94D2-421C-A1D0-8DAB170FC3C8}"/>
              </a:ext>
            </a:extLst>
          </p:cNvPr>
          <p:cNvSpPr>
            <a:spLocks noGrp="1"/>
          </p:cNvSpPr>
          <p:nvPr/>
        </p:nvSpPr>
        <p:spPr>
          <a:xfrm>
            <a:off x="20067172" y="4267951"/>
            <a:ext cx="95059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Results and </a:t>
            </a: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Analysis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8F8393-2FDB-437D-9D78-676ADC7F9BDF}"/>
              </a:ext>
            </a:extLst>
          </p:cNvPr>
          <p:cNvSpPr>
            <a:spLocks noGrp="1"/>
          </p:cNvSpPr>
          <p:nvPr/>
        </p:nvSpPr>
        <p:spPr>
          <a:xfrm>
            <a:off x="20199015" y="11820402"/>
            <a:ext cx="95059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Conclusion and future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A56CA06-E2B0-4F64-A1B6-FF31FFC63B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199015" y="12472864"/>
                <a:ext cx="10026785" cy="523123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550" b="0">
                    <a:solidFill>
                      <a:srgbClr val="15354B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>
                  <a:defRPr sz="3300" b="1">
                    <a:solidFill>
                      <a:srgbClr val="087F8C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IN" sz="2400" b="1" dirty="0">
                    <a:solidFill>
                      <a:srgbClr val="087F8C"/>
                    </a:solidFill>
                    <a:latin typeface="Arial"/>
                    <a:cs typeface="Arial"/>
                  </a:rPr>
                  <a:t>Conclusion: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Validated a new VQE initialization pipeline, proving quantum natural gradients form the definitive baseline standard.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Showed that a cross-attention multi-graph GNN maps complex structures across Hamiltonians, </a:t>
                </a:r>
                <a:r>
                  <a:rPr lang="en-IN" sz="2400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ansatze</a:t>
                </a: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and hardware topologies.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Proved label-free training via unrolled optimization generates high-quality parameters that scale to larger, unseen qubits.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Confirmed that training with hardware-tailored noise builds robust parameter predictions capable of navigating severe error landscapes.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IN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 sz="3300" b="1">
                    <a:solidFill>
                      <a:srgbClr val="087F8C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IN" sz="2400" b="1" dirty="0">
                    <a:solidFill>
                      <a:srgbClr val="087F8C"/>
                    </a:solidFill>
                    <a:latin typeface="Arial"/>
                    <a:cs typeface="Arial"/>
                  </a:rPr>
                  <a:t>Contribution: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solidFill>
                      <a:schemeClr val="tx2"/>
                    </a:solidFill>
                  </a:rPr>
                  <a:t>Tri-Graph GNN &amp; Unrolled Training:</a:t>
                </a:r>
                <a:r>
                  <a:rPr lang="en-IN" sz="2400" dirty="0">
                    <a:solidFill>
                      <a:schemeClr val="tx2"/>
                    </a:solidFill>
                  </a:rPr>
                  <a:t> Combined Hamiltonian, ansatz, and noise topology via cross-attention with label-free unrolled meta-learning.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solidFill>
                      <a:schemeClr val="tx2"/>
                    </a:solidFill>
                  </a:rPr>
                  <a:t>GPU Simulator &amp; 94% Run Reduction:</a:t>
                </a:r>
                <a:r>
                  <a:rPr lang="en-IN" sz="2400" dirty="0">
                    <a:solidFill>
                      <a:schemeClr val="tx2"/>
                    </a:solidFill>
                  </a:rPr>
                  <a:t> Built a differentiable noise simulator that, paired with QNGD, cuts VQE circuit runs by 94%</a:t>
                </a:r>
              </a:p>
              <a:p>
                <a:pPr lvl="0"/>
                <a:r>
                  <a:rPr lang="en-IN" sz="2400" dirty="0">
                    <a:solidFill>
                      <a:schemeClr val="tx2"/>
                    </a:solidFill>
                  </a:rPr>
                  <a:t>.</a:t>
                </a:r>
              </a:p>
              <a:p>
                <a:pPr>
                  <a:defRPr sz="3300" b="1">
                    <a:solidFill>
                      <a:srgbClr val="087F8C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IN" sz="2400" b="1" dirty="0">
                    <a:solidFill>
                      <a:srgbClr val="087F8C"/>
                    </a:solidFill>
                    <a:latin typeface="Arial"/>
                    <a:cs typeface="Arial"/>
                  </a:rPr>
                  <a:t>Future work: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solidFill>
                      <a:schemeClr val="tx2"/>
                    </a:solidFill>
                  </a:rPr>
                  <a:t>Longer Horizon Unrolling:</a:t>
                </a:r>
                <a:r>
                  <a:rPr lang="en-IN" sz="2400" dirty="0">
                    <a:solidFill>
                      <a:schemeClr val="tx2"/>
                    </a:solidFill>
                  </a:rPr>
                  <a:t> Extend unrolling steps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sz="2400" dirty="0">
                    <a:solidFill>
                      <a:schemeClr val="tx2"/>
                    </a:solidFill>
                  </a:rPr>
                  <a:t>) to prevent short-horizon convergence stalls.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solidFill>
                      <a:schemeClr val="tx2"/>
                    </a:solidFill>
                  </a:rPr>
                  <a:t>Unified Noise Architecture:</a:t>
                </a:r>
                <a:r>
                  <a:rPr lang="en-IN" sz="2400" dirty="0">
                    <a:solidFill>
                      <a:schemeClr val="tx2"/>
                    </a:solidFill>
                  </a:rPr>
                  <a:t> Build a single model performing optimally across both noiseless and noisy regimes.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solidFill>
                      <a:schemeClr val="tx2"/>
                    </a:solidFill>
                  </a:rPr>
                  <a:t>Geometric Decoder:</a:t>
                </a:r>
                <a:r>
                  <a:rPr lang="en-IN" sz="2400" dirty="0">
                    <a:solidFill>
                      <a:schemeClr val="tx2"/>
                    </a:solidFill>
                  </a:rPr>
                  <a:t> Incorporate Fubini-Study metric curvature directly into the decoder output head.</a:t>
                </a:r>
              </a:p>
              <a:p>
                <a:pPr>
                  <a:defRPr sz="2550" b="0">
                    <a:solidFill>
                      <a:srgbClr val="15354B"/>
                    </a:solidFill>
                    <a:latin typeface="Arial"/>
                    <a:ea typeface="Arial"/>
                    <a:cs typeface="Arial"/>
                  </a:defRPr>
                </a:pPr>
                <a:endParaRPr lang="en-IN" sz="2400" dirty="0">
                  <a:solidFill>
                    <a:schemeClr val="tx2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A56CA06-E2B0-4F64-A1B6-FF31FFC63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9015" y="12472864"/>
                <a:ext cx="10026785" cy="5231233"/>
              </a:xfrm>
              <a:prstGeom prst="rect">
                <a:avLst/>
              </a:prstGeom>
              <a:blipFill>
                <a:blip r:embed="rId4"/>
                <a:stretch>
                  <a:fillRect l="-912" t="-816" r="-669" b="-7226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 descr="A blue and white logo&#10;&#10;Description automatically generated">
            <a:extLst>
              <a:ext uri="{FF2B5EF4-FFF2-40B4-BE49-F238E27FC236}">
                <a16:creationId xmlns:a16="http://schemas.microsoft.com/office/drawing/2014/main" id="{0EF0BD8F-825E-A2C0-2525-FD1B64C0E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319489"/>
            <a:ext cx="2187116" cy="1016268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410E94-B0D4-BEC6-A47D-1F1B0E9BD3D9}"/>
              </a:ext>
            </a:extLst>
          </p:cNvPr>
          <p:cNvCxnSpPr>
            <a:cxnSpLocks/>
          </p:cNvCxnSpPr>
          <p:nvPr/>
        </p:nvCxnSpPr>
        <p:spPr>
          <a:xfrm flipV="1">
            <a:off x="619125" y="3957637"/>
            <a:ext cx="29018665" cy="1604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825398C-3094-6C2E-F51B-7E7DE07004CA}"/>
              </a:ext>
            </a:extLst>
          </p:cNvPr>
          <p:cNvSpPr>
            <a:spLocks noGrp="1"/>
          </p:cNvSpPr>
          <p:nvPr/>
        </p:nvSpPr>
        <p:spPr>
          <a:xfrm>
            <a:off x="8953157" y="18994803"/>
            <a:ext cx="10618370" cy="3133726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087F8C"/>
                </a:solidFill>
                <a:latin typeface="Arial"/>
                <a:cs typeface="Arial"/>
              </a:rPr>
              <a:t>Dataset Description</a:t>
            </a:r>
          </a:p>
          <a:p>
            <a: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lang="en-IN" sz="2550" dirty="0">
                <a:solidFill>
                  <a:srgbClr val="15354B"/>
                </a:solidFill>
                <a:latin typeface="Arial"/>
              </a:rPr>
              <a:t>We used the</a:t>
            </a:r>
            <a:r>
              <a:rPr lang="en-IN" sz="2550" b="1" dirty="0">
                <a:solidFill>
                  <a:srgbClr val="15354B"/>
                </a:solidFill>
                <a:latin typeface="Arial"/>
              </a:rPr>
              <a:t> </a:t>
            </a:r>
            <a:r>
              <a:rPr lang="en-IN" sz="2550" b="1" dirty="0" err="1">
                <a:solidFill>
                  <a:srgbClr val="15354B"/>
                </a:solidFill>
                <a:latin typeface="Arial"/>
              </a:rPr>
              <a:t>VQEzy</a:t>
            </a:r>
            <a:r>
              <a:rPr lang="en-IN" sz="2550" b="1" dirty="0">
                <a:solidFill>
                  <a:srgbClr val="15354B"/>
                </a:solidFill>
                <a:latin typeface="Arial"/>
              </a:rPr>
              <a:t> </a:t>
            </a:r>
            <a:r>
              <a:rPr lang="en-IN" sz="2550" dirty="0">
                <a:solidFill>
                  <a:srgbClr val="15354B"/>
                </a:solidFill>
                <a:latin typeface="Arial"/>
              </a:rPr>
              <a:t>dataset which consists of 1,308 total instances across three Hamiltonian families spanning 4 to 8 qubits, split into 1,000 train, 150 validation, and 158 test samples. A separate 12-qubit Heisenberg chain is reserved exclusively for unseen-size test evaluation.</a:t>
            </a:r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endParaRPr lang="en-IN"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0B98B9-427C-3E97-A53C-BA2A480E5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5374" y="4766126"/>
            <a:ext cx="10802825" cy="7526502"/>
          </a:xfrm>
          <a:prstGeom prst="rect">
            <a:avLst/>
          </a:prstGeom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16CC249-866C-6055-EA3E-3BF3B5670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679348"/>
              </p:ext>
            </p:extLst>
          </p:nvPr>
        </p:nvGraphicFramePr>
        <p:xfrm>
          <a:off x="673140" y="11946642"/>
          <a:ext cx="7875202" cy="6117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9366">
                  <a:extLst>
                    <a:ext uri="{9D8B030D-6E8A-4147-A177-3AD203B41FA5}">
                      <a16:colId xmlns:a16="http://schemas.microsoft.com/office/drawing/2014/main" val="2059854558"/>
                    </a:ext>
                  </a:extLst>
                </a:gridCol>
                <a:gridCol w="1902093">
                  <a:extLst>
                    <a:ext uri="{9D8B030D-6E8A-4147-A177-3AD203B41FA5}">
                      <a16:colId xmlns:a16="http://schemas.microsoft.com/office/drawing/2014/main" val="1572059380"/>
                    </a:ext>
                  </a:extLst>
                </a:gridCol>
                <a:gridCol w="2162048">
                  <a:extLst>
                    <a:ext uri="{9D8B030D-6E8A-4147-A177-3AD203B41FA5}">
                      <a16:colId xmlns:a16="http://schemas.microsoft.com/office/drawing/2014/main" val="1071012640"/>
                    </a:ext>
                  </a:extLst>
                </a:gridCol>
                <a:gridCol w="1981695">
                  <a:extLst>
                    <a:ext uri="{9D8B030D-6E8A-4147-A177-3AD203B41FA5}">
                      <a16:colId xmlns:a16="http://schemas.microsoft.com/office/drawing/2014/main" val="1294458223"/>
                    </a:ext>
                  </a:extLst>
                </a:gridCol>
              </a:tblGrid>
              <a:tr h="71762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0" dirty="0">
                          <a:solidFill>
                            <a:schemeClr val="bg1"/>
                          </a:solidFill>
                          <a:effectLst/>
                        </a:rPr>
                        <a:t>Author &amp; Year</a:t>
                      </a:r>
                      <a:endParaRPr lang="en-IN" sz="2000" b="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0" dirty="0">
                          <a:solidFill>
                            <a:schemeClr val="bg1"/>
                          </a:solidFill>
                          <a:effectLst/>
                        </a:rPr>
                        <a:t>Proposed Method</a:t>
                      </a:r>
                      <a:endParaRPr lang="en-IN" sz="2000" b="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0" dirty="0">
                          <a:solidFill>
                            <a:schemeClr val="bg1"/>
                          </a:solidFill>
                          <a:effectLst/>
                        </a:rPr>
                        <a:t>Finding</a:t>
                      </a:r>
                      <a:endParaRPr lang="en-IN" sz="2000" b="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0" dirty="0">
                          <a:solidFill>
                            <a:schemeClr val="bg1"/>
                          </a:solidFill>
                          <a:effectLst/>
                        </a:rPr>
                        <a:t>Limitation</a:t>
                      </a:r>
                      <a:endParaRPr lang="en-IN" sz="2000" b="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27208"/>
                  </a:ext>
                </a:extLst>
              </a:tr>
              <a:tr h="1949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Zhang et al. (2025) - </a:t>
                      </a:r>
                      <a:r>
                        <a:rPr lang="en-IN" sz="2000" dirty="0" err="1">
                          <a:effectLst/>
                        </a:rPr>
                        <a:t>Qracle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/>
                        <a:t>GNN-based VQE parameter initializer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/>
                        <a:t>Maps problem/ansatz structure to VQE initial parameters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graph only; ignores hardware, noise, and geometry</a:t>
                      </a:r>
                      <a:r>
                        <a:rPr lang="en-IN" sz="2000" dirty="0"/>
                        <a:t> 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752125"/>
                  </a:ext>
                </a:extLst>
              </a:tr>
              <a:tr h="17185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/>
                        <a:t>Cheng et al. (2025)</a:t>
                      </a:r>
                      <a:endParaRPr lang="en-IN" sz="2000" dirty="0"/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/>
                        <a:t>Clifford-circuit initialization 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/>
                        <a:t>Classically </a:t>
                      </a:r>
                      <a:r>
                        <a:rPr lang="en-IN" sz="2000" dirty="0" err="1"/>
                        <a:t>simulable</a:t>
                      </a:r>
                      <a:r>
                        <a:rPr lang="en-IN" sz="2000" dirty="0"/>
                        <a:t> </a:t>
                      </a:r>
                      <a:r>
                        <a:rPr lang="en-IN" sz="2000" dirty="0" err="1"/>
                        <a:t>init</a:t>
                      </a:r>
                      <a:r>
                        <a:rPr lang="en-IN" sz="2000" dirty="0"/>
                        <a:t> competitive with random search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/>
                        <a:t>Non-learned; lacks structure from Hamiltonian/ansatz/hardware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097162"/>
                  </a:ext>
                </a:extLst>
              </a:tr>
              <a:tr h="171853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/>
                        <a:t>Jiang et al., </a:t>
                      </a:r>
                      <a:r>
                        <a:rPr lang="en-IN" sz="2000" dirty="0" err="1"/>
                        <a:t>QSeer</a:t>
                      </a:r>
                      <a:r>
                        <a:rPr lang="en-IN" sz="2000" dirty="0"/>
                        <a:t> (2025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/>
                        <a:t>Physics-informed GNN for QAOA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/>
                        <a:t>Improves plain GNN warm-starts via physics structure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/>
                        <a:t>QAOA-specific; no joint hardware-noise or geometry </a:t>
                      </a:r>
                      <a:r>
                        <a:rPr lang="en-IN" sz="2000" dirty="0" err="1"/>
                        <a:t>modeling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918392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D8D2EB85-B58F-5A5E-63DF-E107F9AAB7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50775" y="7581151"/>
            <a:ext cx="8199530" cy="43654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C243866-2ADA-FBE6-26B3-DE40E372BD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50775" y="5065197"/>
            <a:ext cx="4809386" cy="23369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87019BC-32EA-20EE-2655-705B7E0630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60161" y="4960332"/>
            <a:ext cx="4011028" cy="254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42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672</Words>
  <Application>Microsoft Office PowerPoint</Application>
  <DocSecurity>0</DocSecurity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Cambria Math</vt:lpstr>
      <vt:lpstr>Google Sans Text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Krishna TS</cp:lastModifiedBy>
  <cp:revision>4</cp:revision>
  <dcterms:created xsi:type="dcterms:W3CDTF">2026-10-10T11:20:33Z</dcterms:created>
  <dcterms:modified xsi:type="dcterms:W3CDTF">2026-10-20T10:31:30Z</dcterms:modified>
</cp:coreProperties>
</file>