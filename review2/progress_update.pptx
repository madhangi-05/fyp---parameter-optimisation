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otivation &amp; Framing" id="{47642bd0-79d2-0beb-3e29-56cfb24cb80a}">
          <p14:sldIdLst>
            <p14:sldId id="256"/>
            <p14:sldId id="257"/>
            <p14:sldId id="258"/>
            <p14:sldId id="259"/>
            <p14:sldId id="260"/>
          </p14:sldIdLst>
        </p14:section>
        <p14:section name="System" id="{2bdccb56-5f59-87dd-2bc8-179df014c97f}">
          <p14:sldIdLst>
            <p14:sldId id="261"/>
            <p14:sldId id="262"/>
            <p14:sldId id="263"/>
            <p14:sldId id="264"/>
            <p14:sldId id="265"/>
          </p14:sldIdLst>
        </p14:section>
        <p14:section name="Results" id="{be227f50-6bed-b9c6-2c77-58a6bd12e7b6}">
          <p14:sldIdLst>
            <p14:sldId id="266"/>
            <p14:sldId id="267"/>
            <p14:sldId id="268"/>
            <p14:sldId id="269"/>
          </p14:sldIdLst>
        </p14:section>
        <p14:section name="Default-1" id="{627ce3b9-354c-4750-b5e0-1541efb136a3}">
          <p14:sldIdLst>
            <p14:sldId id="2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Good [morning/afternoon]. We're presenting our progress on noise-aware GNN initialization for VQE combined with Quantum Natural Gradient Descent. I'll cover the motivation and problem framing, [Speaker B] will walk through the system we built, and [Speaker C] will present results and what's next. Quick one-line hook: we're trying to teach a neural network to pick a good starting point for a quantum algorithm, so it needs fewer expensive quantum circuit runs to find an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Five parts: motivation, the problem and research gap, how the system is built, the results we have so far, and where we go next. I'll take the first two, [Speaker B] the system, [Speaker C] results and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Ground-state energy isn't abstract — it tells you if a material conducts, how a molecule folds, how strongly a drug binds. Exact diagonalization costs 2 to the n, so it's hopeless at scale. VQE is the practical workaround: quantum hardware does only what it's good at — preparing and measuring a state — and a classical computer handles the optimization logic. The key cost driver on real hardware is the count of circuit executions, which is exactly what our whole project is trying to reduce.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Formally, we want a function of three graphs that outputs starting parameters theta-zero, such that running VQE+QNGD from that start beats a random start on circuit count — without ever training against a pre-computed optimal answer, and holding up on problem sizes we never trained on. Five concrete objectives follow from that: establish a fair baseline, build the 3-graph initializer, train it label-free, make it noise-aware, and compare everything on held-out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A: Qracle and QSeer both show learned initialization helps, but neither conditions on the actual hardware the circuit will run on, and neither trains with the optimizer that runs afterward in mind. Clifford-circuit initialization avoids this by not learning anything problem-specific at all. That's the gap we're targeting: joint hardware/noise awareness, plus the optimizer in the training loop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Here's the whole pipeline. The three graphs feed the GNN initializer directly, and the hardware graph also drives our custom noise simulator. The GNN's predicted start, plus — for the noise-aware variants — the simulator's noisy energies, both feed label-free training, which unrolls real optimizer steps. The trained initializer is then evaluated by running full VQE+QNGD from its predicted start and counting circuit executions against a random-start baseline and the exact ground energy. I'll walk through each piece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Every VQE instance is turned into three graphs. The Hamiltonian graph captures which qubits interact physically. The ansatz graph captures the circuit structure itself — which gate slot talks to which. The hardware graph captures the device: topology and per-qubit/coupler noise, synthetic since we don't have real calibration data, but deliberately varied so the model has to react to different hardware rather than memorize one device.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Noise-aware training needs to backprop through many simulated steps, including the QNGD metric tensor, under noise — PennyLane's general noisy simulator just isn't built for that at GPU-batch training scale. So we wrote our own density-matrix simulator in PyTorch, matching PennyLane to between 1e-8 and 1e-16 precision before we trusted it for any real training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Each of the three graphs gets its own 3-layer graph attention encoder. Two stages of cross-attention then fuse them — ansatz attends to Hamiltonian first, then to hardware/noise — so noise is built into the fusion itself, not bolted on afterward. A layer-wise decoder turns each fused gate-slot embedding into that slot's rotation angles. A simple switch removes the hardware branch entirely, giving us the noise-unaware ablation variants for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B: We tried three training objectives. Minimizing the starting energy directly actively hurt — it rewards starts in flat, hard-to-escape regions. So we unroll three real optimizer steps and score where the optimizer actually lands; that's what all five reported variants use. A 15-step trajectory-mean version was a pilot we haven't scaled up yet. The five variants isolate two things independently: gradient-descent vs QNGD unrolling, and whether noise and the hardware graph are present during training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Before touching the GNN, we had to establish the right baseline. QNGD from a random start beats the dataset's own original VQE procedure everywhere — 94% fewer circuit executions overall, and it succeeds far more often, 82% vs 54%. So every GNN result from here on is measured against QNGD, not the original method — that's the real bar.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This is the headline table — five trained variants, under real device noise, per problem family. Green is an improvement over the QNGD baseline, red is a regression. The clean-trained GNN-GD variant, which was our best noiseless result, actually gets worse under noise. The three noise-aware variants — GNN-GD-B, GNN-A, GNN-B — are consistently positive, up to +15.1% fewer executions and over 50% target-reached rate, more than double the noise-unaware variants.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Three takeaways. First, no variant wins in both the noiseless and noisy regimes — that's a real, useful negative result, not a gap in the analysis. Second, we found that a lower starting energy is actually anti-correlated with the final optimization result, which explains why our first, naive training objective back in module 4 actively hurt. Third, the ansatz itself has a hard accuracy ceiling with only two layers — that's a design constraint, not a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SPEAKER C: To summarize status — everything on the left is done and verified: accounting, ground truth, the three graphs, the baseline, five trained variants, and the noise simulator. The open item is showing one initializer that wins in both regimes, and our leading idea for that is feeding the QNGD geometry into training directly, which is first on the next-steps list, alongside addressing the ansatz ceiling, broadening the noise study, and scaling past 12 qubits.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Thank the panel, open the floor for questions. Be ready to go back to the results table (slide 12) or the architecture slide (slide 6) if asked for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9144000" cy="365760"/>
          </a:xfrm>
          <a:prstGeom prst="rect">
            <a:avLst/>
          </a:prstGeom>
          <a:noFill/>
          <a:ln/>
        </p:spPr>
        <p:txBody>
          <a:bodyPr wrap="square" rtlCol="0"/>
          <a:lstStyle>
            <a:lvl1pPr algn="l" indent="0" marL="0">
              <a:buNone/>
              <a:defRPr lang="en-US" sz="1300" b="1" spc="200" kern="0" dirty="0">
                <a:solidFill>
                  <a:schemeClr val="accent2"/>
                </a:solidFill>
                <a:latin typeface="Calibri" pitchFamily="34" charset="0"/>
                <a:ea typeface="Calibri" pitchFamily="34" charset="-122"/>
                <a:cs typeface="Calibri" pitchFamily="34" charset="-120"/>
              </a:defRPr>
            </a:lvl1pPr>
          </a:lstStyle>
          <a:p>
            <a:pPr algn="l" indent="0" marL="0">
              <a:buNone/>
            </a:pPr>
            <a:endParaRPr lang="en-US" sz="1300" dirty="0"/>
          </a:p>
        </p:txBody>
      </p:sp>
      <p:sp>
        <p:nvSpPr>
          <p:cNvPr id="3" name="Text 0"/>
          <p:cNvSpPr/>
          <p:nvPr>
            <p:ph idx="101" type="title" hasCustomPrompt="1"/>
          </p:nvPr>
        </p:nvSpPr>
        <p:spPr>
          <a:xfrm>
            <a:off x="731520" y="1874520"/>
            <a:ext cx="10698480" cy="1737360"/>
          </a:xfrm>
          <a:prstGeom prst="rect">
            <a:avLst/>
          </a:prstGeom>
          <a:noFill/>
          <a:ln/>
        </p:spPr>
        <p:txBody>
          <a:bodyPr wrap="square" rtlCol="0"/>
          <a:lstStyle>
            <a:lvl1pPr algn="l" indent="0" marL="0">
              <a:lnSpc>
                <a:spcPts val="4400"/>
              </a:lnSpc>
              <a:buNone/>
              <a:defRPr lang="en-US" sz="3800" b="1" dirty="0">
                <a:solidFill>
                  <a:schemeClr val="bg1"/>
                </a:solidFill>
                <a:latin typeface="Cambria" pitchFamily="34" charset="0"/>
                <a:ea typeface="Cambria" pitchFamily="34" charset="-122"/>
                <a:cs typeface="Cambria" pitchFamily="34" charset="-120"/>
              </a:defRPr>
            </a:lvl1pPr>
          </a:lstStyle>
          <a:p>
            <a:pPr algn="l" indent="0" marL="0">
              <a:lnSpc>
                <a:spcPts val="4400"/>
              </a:lnSpc>
              <a:buNone/>
            </a:pPr>
            <a:endParaRPr lang="en-US" sz="3800" dirty="0"/>
          </a:p>
        </p:txBody>
      </p:sp>
      <p:sp>
        <p:nvSpPr>
          <p:cNvPr id="4" name="Text 0"/>
          <p:cNvSpPr/>
          <p:nvPr>
            <p:ph idx="102" type="body" hasCustomPrompt="1"/>
          </p:nvPr>
        </p:nvSpPr>
        <p:spPr>
          <a:xfrm>
            <a:off x="731520" y="3703320"/>
            <a:ext cx="10332720" cy="54864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lvl1pPr algn="l" indent="0" marL="0">
              <a:buNone/>
              <a:defRPr lang="en-US" sz="1200" b="1" spc="200" kern="0" dirty="0">
                <a:solidFill>
                  <a:schemeClr val="accent1"/>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lvl1pPr algn="l" indent="0" marL="0">
              <a:buNone/>
              <a:defRPr lang="en-US" sz="29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290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ANKS">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18872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3" name="Text 0"/>
          <p:cNvSpPr/>
          <p:nvPr>
            <p:ph idx="101" type="body" hasCustomPrompt="1"/>
          </p:nvPr>
        </p:nvSpPr>
        <p:spPr>
          <a:xfrm>
            <a:off x="731520" y="3794760"/>
            <a:ext cx="10332720" cy="548640"/>
          </a:xfrm>
          <a:prstGeom prst="rect">
            <a:avLst/>
          </a:prstGeom>
          <a:noFill/>
          <a:ln/>
        </p:spPr>
        <p:txBody>
          <a:bodyPr wrap="square" rtlCol="0"/>
          <a:lstStyle>
            <a:lvl1pPr algn="l" indent="0" marL="0">
              <a:buNone/>
              <a:defRPr lang="en-US" sz="1800" dirty="0">
                <a:solidFill>
                  <a:schemeClr val="bg2"/>
                </a:solidFill>
                <a:latin typeface="Calibri" pitchFamily="34" charset="0"/>
                <a:ea typeface="Calibri" pitchFamily="34" charset="-122"/>
                <a:cs typeface="Calibri" pitchFamily="34" charset="-120"/>
              </a:defRPr>
            </a:lvl1pPr>
          </a:lstStyle>
          <a:p>
            <a:pPr algn="l" indent="0" marL="0">
              <a:buNone/>
            </a:pP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731520" y="1417320"/>
            <a:ext cx="9144000" cy="365760"/>
          </a:xfrm>
          <a:prstGeom prst="rect">
            <a:avLst/>
          </a:prstGeom>
          <a:noFill/>
          <a:ln/>
        </p:spPr>
        <p:txBody>
          <a:bodyPr wrap="square" rtlCol="0"/>
          <a:lstStyle/>
          <a:p>
            <a:pPr algn="l" indent="0" marL="0">
              <a:buNone/>
            </a:pPr>
            <a:r>
              <a:rPr lang="en-US" sz="1300" b="1" spc="200" kern="0" dirty="0">
                <a:solidFill>
                  <a:schemeClr val="accent2"/>
                </a:solidFill>
                <a:latin typeface="Calibri" pitchFamily="34" charset="0"/>
                <a:ea typeface="Calibri" pitchFamily="34" charset="-122"/>
                <a:cs typeface="Calibri" pitchFamily="34" charset="-120"/>
              </a:rPr>
              <a:t>FYP REVIEW II  ·  PROGRESS UPDATE</a:t>
            </a:r>
            <a:endParaRPr lang="en-US" sz="1300" dirty="0"/>
          </a:p>
        </p:txBody>
      </p:sp>
      <p:sp>
        <p:nvSpPr>
          <p:cNvPr id="3" name="Text 0"/>
          <p:cNvSpPr/>
          <p:nvPr>
            <p:ph idx="101" type="title" hasCustomPrompt="1"/>
          </p:nvPr>
        </p:nvSpPr>
        <p:spPr>
          <a:xfrm>
            <a:off x="731520" y="1874520"/>
            <a:ext cx="10698480" cy="1737360"/>
          </a:xfrm>
          <a:prstGeom prst="rect">
            <a:avLst/>
          </a:prstGeom>
          <a:noFill/>
          <a:ln/>
        </p:spPr>
        <p:txBody>
          <a:bodyPr wrap="square" rtlCol="0" anchor="t"/>
          <a:lstStyle/>
          <a:p>
            <a:pPr algn="l" indent="0" marL="0">
              <a:lnSpc>
                <a:spcPts val="4400"/>
              </a:lnSpc>
              <a:buNone/>
            </a:pPr>
            <a:r>
              <a:rPr lang="en-US" sz="3800" b="1" dirty="0">
                <a:solidFill>
                  <a:schemeClr val="bg1"/>
                </a:solidFill>
                <a:latin typeface="Cambria" pitchFamily="34" charset="0"/>
                <a:ea typeface="Cambria" pitchFamily="34" charset="-122"/>
                <a:cs typeface="Cambria" pitchFamily="34" charset="-120"/>
              </a:rPr>
              <a:t>Noise-Aware Geometry-Guided GNN</a:t>
            </a:r>
            <a:endParaRPr lang="en-US" sz="3800" dirty="0"/>
          </a:p>
          <a:p>
            <a:pPr algn="l" indent="0" marL="0">
              <a:lnSpc>
                <a:spcPts val="4400"/>
              </a:lnSpc>
              <a:buNone/>
            </a:pPr>
            <a:r>
              <a:rPr lang="en-US" sz="3800" b="1" dirty="0">
                <a:solidFill>
                  <a:schemeClr val="bg1"/>
                </a:solidFill>
                <a:latin typeface="Cambria" pitchFamily="34" charset="0"/>
                <a:ea typeface="Cambria" pitchFamily="34" charset="-122"/>
                <a:cs typeface="Cambria" pitchFamily="34" charset="-120"/>
              </a:rPr>
              <a:t>Initialization for VQE + QNGD</a:t>
            </a:r>
            <a:endParaRPr lang="en-US" sz="3800" dirty="0"/>
          </a:p>
        </p:txBody>
      </p:sp>
      <p:sp>
        <p:nvSpPr>
          <p:cNvPr id="4" name="Text 0"/>
          <p:cNvSpPr/>
          <p:nvPr>
            <p:ph idx="102" type="body" hasCustomPrompt="1"/>
          </p:nvPr>
        </p:nvSpPr>
        <p:spPr>
          <a:xfrm>
            <a:off x="731520" y="3703320"/>
            <a:ext cx="10332720" cy="548640"/>
          </a:xfrm>
          <a:prstGeom prst="rect">
            <a:avLst/>
          </a:prstGeom>
          <a:noFill/>
          <a:ln/>
        </p:spPr>
        <p:txBody>
          <a:bodyPr wrap="square" rtlCol="0"/>
          <a:lstStyle/>
          <a:p>
            <a:pPr algn="l" indent="0" marL="0">
              <a:buNone/>
            </a:pPr>
            <a:r>
              <a:rPr lang="en-US" sz="1800" dirty="0">
                <a:solidFill>
                  <a:schemeClr val="bg2"/>
                </a:solidFill>
                <a:latin typeface="Calibri" pitchFamily="34" charset="0"/>
                <a:ea typeface="Calibri" pitchFamily="34" charset="-122"/>
                <a:cs typeface="Calibri" pitchFamily="34" charset="-120"/>
              </a:rPr>
              <a:t>Learning where to start the Variational Quantum Eigensolver, so fewer quantum circuits are needed to reach the ground state.</a:t>
            </a:r>
            <a:endParaRPr lang="en-US" sz="1800" dirty="0"/>
          </a:p>
        </p:txBody>
      </p:sp>
      <p:sp>
        <p:nvSpPr>
          <p:cNvPr id="5" name="Shape 3"/>
          <p:cNvSpPr/>
          <p:nvPr/>
        </p:nvSpPr>
        <p:spPr>
          <a:xfrm>
            <a:off x="9966960" y="-1097280"/>
            <a:ext cx="3840480" cy="3840480"/>
          </a:xfrm>
          <a:prstGeom prst="ellipse">
            <a:avLst/>
          </a:prstGeom>
          <a:solidFill>
            <a:srgbClr val="4F46E5">
              <a:alpha val="20000"/>
            </a:srgbClr>
          </a:solidFill>
          <a:ln/>
        </p:spPr>
      </p:sp>
      <p:sp>
        <p:nvSpPr>
          <p:cNvPr id="6" name="Shape 4"/>
          <p:cNvSpPr/>
          <p:nvPr/>
        </p:nvSpPr>
        <p:spPr>
          <a:xfrm>
            <a:off x="10881360" y="4389120"/>
            <a:ext cx="2377440" cy="2377440"/>
          </a:xfrm>
          <a:prstGeom prst="ellipse">
            <a:avLst/>
          </a:prstGeom>
          <a:solidFill>
            <a:srgbClr val="D97706">
              <a:alpha val="22000"/>
            </a:srgbClr>
          </a:solidFill>
          <a:ln/>
        </p:spPr>
      </p:sp>
      <p:sp>
        <p:nvSpPr>
          <p:cNvPr id="7" name="Text 5"/>
          <p:cNvSpPr txBox="1"/>
          <p:nvPr/>
        </p:nvSpPr>
        <p:spPr>
          <a:xfrm>
            <a:off x="731520" y="6172200"/>
            <a:ext cx="10698480" cy="36576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Presented by  [Presenter 1]  ·  [Presenter 2]  ·  [Presenter 3]        Guide: [Guide Name]        20 October 2026</a:t>
            </a:r>
            <a:endParaRPr lang="en-US" sz="1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OVERVIEW</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Agenda</a:t>
            </a:r>
            <a:endParaRPr lang="en-US" sz="2900" dirty="0"/>
          </a:p>
        </p:txBody>
      </p:sp>
      <p:sp>
        <p:nvSpPr>
          <p:cNvPr id="4" name="Shape 2"/>
          <p:cNvSpPr/>
          <p:nvPr/>
        </p:nvSpPr>
        <p:spPr>
          <a:xfrm>
            <a:off x="731520" y="1783080"/>
            <a:ext cx="502920" cy="502920"/>
          </a:xfrm>
          <a:prstGeom prst="ellipse">
            <a:avLst/>
          </a:prstGeom>
          <a:solidFill>
            <a:srgbClr val="4F46E5"/>
          </a:solidFill>
          <a:ln/>
        </p:spPr>
      </p:sp>
      <p:sp>
        <p:nvSpPr>
          <p:cNvPr id="5" name="Text 3"/>
          <p:cNvSpPr txBox="1"/>
          <p:nvPr/>
        </p:nvSpPr>
        <p:spPr>
          <a:xfrm>
            <a:off x="731520" y="178308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463040" y="1746504"/>
            <a:ext cx="3017520" cy="502920"/>
          </a:xfrm>
          <a:prstGeom prst="rect">
            <a:avLst/>
          </a:prstGeom>
          <a:noFill/>
          <a:ln/>
        </p:spPr>
        <p:txBody>
          <a:bodyPr wrap="square" lIns="0" tIns="0" rIns="0" bIns="0" rtlCol="0" anchor="ctr"/>
          <a:lstStyle/>
          <a:p>
            <a:pPr indent="0" marL="0">
              <a:buNone/>
            </a:pPr>
            <a:r>
              <a:rPr lang="en-US" sz="1600" b="1" dirty="0">
                <a:solidFill>
                  <a:srgbClr val="312E81"/>
                </a:solidFill>
                <a:latin typeface="Calibri" pitchFamily="34" charset="0"/>
                <a:ea typeface="Calibri" pitchFamily="34" charset="-122"/>
                <a:cs typeface="Calibri" pitchFamily="34" charset="-120"/>
              </a:rPr>
              <a:t>Motivation</a:t>
            </a:r>
            <a:endParaRPr lang="en-US" sz="1600" dirty="0"/>
          </a:p>
        </p:txBody>
      </p:sp>
      <p:sp>
        <p:nvSpPr>
          <p:cNvPr id="7" name="Text 5"/>
          <p:cNvSpPr txBox="1"/>
          <p:nvPr/>
        </p:nvSpPr>
        <p:spPr>
          <a:xfrm>
            <a:off x="4572000" y="1746504"/>
            <a:ext cx="69494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Why ground-state energy, why VQE, why initialization matters</a:t>
            </a:r>
            <a:endParaRPr lang="en-US" sz="1350" dirty="0"/>
          </a:p>
        </p:txBody>
      </p:sp>
      <p:sp>
        <p:nvSpPr>
          <p:cNvPr id="8" name="Shape 6"/>
          <p:cNvSpPr/>
          <p:nvPr/>
        </p:nvSpPr>
        <p:spPr>
          <a:xfrm>
            <a:off x="731520" y="2651760"/>
            <a:ext cx="502920" cy="502920"/>
          </a:xfrm>
          <a:prstGeom prst="ellipse">
            <a:avLst/>
          </a:prstGeom>
          <a:solidFill>
            <a:srgbClr val="4F46E5"/>
          </a:solidFill>
          <a:ln/>
        </p:spPr>
      </p:sp>
      <p:sp>
        <p:nvSpPr>
          <p:cNvPr id="9" name="Text 7"/>
          <p:cNvSpPr txBox="1"/>
          <p:nvPr/>
        </p:nvSpPr>
        <p:spPr>
          <a:xfrm>
            <a:off x="731520" y="265176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Text 8"/>
          <p:cNvSpPr txBox="1"/>
          <p:nvPr/>
        </p:nvSpPr>
        <p:spPr>
          <a:xfrm>
            <a:off x="1463040" y="2615184"/>
            <a:ext cx="3017520" cy="502920"/>
          </a:xfrm>
          <a:prstGeom prst="rect">
            <a:avLst/>
          </a:prstGeom>
          <a:noFill/>
          <a:ln/>
        </p:spPr>
        <p:txBody>
          <a:bodyPr wrap="square" lIns="0" tIns="0" rIns="0" bIns="0" rtlCol="0" anchor="ctr"/>
          <a:lstStyle/>
          <a:p>
            <a:pPr indent="0" marL="0">
              <a:buNone/>
            </a:pPr>
            <a:r>
              <a:rPr lang="en-US" sz="1600" b="1" dirty="0">
                <a:solidFill>
                  <a:srgbClr val="312E81"/>
                </a:solidFill>
                <a:latin typeface="Calibri" pitchFamily="34" charset="0"/>
                <a:ea typeface="Calibri" pitchFamily="34" charset="-122"/>
                <a:cs typeface="Calibri" pitchFamily="34" charset="-120"/>
              </a:rPr>
              <a:t>Problem &amp; gap</a:t>
            </a:r>
            <a:endParaRPr lang="en-US" sz="1600" dirty="0"/>
          </a:p>
        </p:txBody>
      </p:sp>
      <p:sp>
        <p:nvSpPr>
          <p:cNvPr id="11" name="Text 9"/>
          <p:cNvSpPr txBox="1"/>
          <p:nvPr/>
        </p:nvSpPr>
        <p:spPr>
          <a:xfrm>
            <a:off x="4572000" y="2615184"/>
            <a:ext cx="69494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What we set out to solve, and what's missing from prior work</a:t>
            </a:r>
            <a:endParaRPr lang="en-US" sz="1350" dirty="0"/>
          </a:p>
        </p:txBody>
      </p:sp>
      <p:sp>
        <p:nvSpPr>
          <p:cNvPr id="12" name="Shape 10"/>
          <p:cNvSpPr/>
          <p:nvPr/>
        </p:nvSpPr>
        <p:spPr>
          <a:xfrm>
            <a:off x="731520" y="3520440"/>
            <a:ext cx="502920" cy="502920"/>
          </a:xfrm>
          <a:prstGeom prst="ellipse">
            <a:avLst/>
          </a:prstGeom>
          <a:solidFill>
            <a:srgbClr val="4F46E5"/>
          </a:solidFill>
          <a:ln/>
        </p:spPr>
      </p:sp>
      <p:sp>
        <p:nvSpPr>
          <p:cNvPr id="13" name="Text 11"/>
          <p:cNvSpPr txBox="1"/>
          <p:nvPr/>
        </p:nvSpPr>
        <p:spPr>
          <a:xfrm>
            <a:off x="731520" y="352044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4" name="Text 12"/>
          <p:cNvSpPr txBox="1"/>
          <p:nvPr/>
        </p:nvSpPr>
        <p:spPr>
          <a:xfrm>
            <a:off x="1463040" y="3483864"/>
            <a:ext cx="3017520" cy="502920"/>
          </a:xfrm>
          <a:prstGeom prst="rect">
            <a:avLst/>
          </a:prstGeom>
          <a:noFill/>
          <a:ln/>
        </p:spPr>
        <p:txBody>
          <a:bodyPr wrap="square" lIns="0" tIns="0" rIns="0" bIns="0" rtlCol="0" anchor="ctr"/>
          <a:lstStyle/>
          <a:p>
            <a:pPr indent="0" marL="0">
              <a:buNone/>
            </a:pPr>
            <a:r>
              <a:rPr lang="en-US" sz="1600" b="1" dirty="0">
                <a:solidFill>
                  <a:srgbClr val="312E81"/>
                </a:solidFill>
                <a:latin typeface="Calibri" pitchFamily="34" charset="0"/>
                <a:ea typeface="Calibri" pitchFamily="34" charset="-122"/>
                <a:cs typeface="Calibri" pitchFamily="34" charset="-120"/>
              </a:rPr>
              <a:t>System</a:t>
            </a:r>
            <a:endParaRPr lang="en-US" sz="1600" dirty="0"/>
          </a:p>
        </p:txBody>
      </p:sp>
      <p:sp>
        <p:nvSpPr>
          <p:cNvPr id="15" name="Text 13"/>
          <p:cNvSpPr txBox="1"/>
          <p:nvPr/>
        </p:nvSpPr>
        <p:spPr>
          <a:xfrm>
            <a:off x="4572000" y="3483864"/>
            <a:ext cx="69494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The 3-graph GNN initializer and the label-free training loop</a:t>
            </a:r>
            <a:endParaRPr lang="en-US" sz="1350" dirty="0"/>
          </a:p>
        </p:txBody>
      </p:sp>
      <p:sp>
        <p:nvSpPr>
          <p:cNvPr id="16" name="Shape 14"/>
          <p:cNvSpPr/>
          <p:nvPr/>
        </p:nvSpPr>
        <p:spPr>
          <a:xfrm>
            <a:off x="731520" y="4389120"/>
            <a:ext cx="502920" cy="502920"/>
          </a:xfrm>
          <a:prstGeom prst="ellipse">
            <a:avLst/>
          </a:prstGeom>
          <a:solidFill>
            <a:srgbClr val="4F46E5"/>
          </a:solidFill>
          <a:ln/>
        </p:spPr>
      </p:sp>
      <p:sp>
        <p:nvSpPr>
          <p:cNvPr id="17" name="Text 15"/>
          <p:cNvSpPr txBox="1"/>
          <p:nvPr/>
        </p:nvSpPr>
        <p:spPr>
          <a:xfrm>
            <a:off x="731520" y="438912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8" name="Text 16"/>
          <p:cNvSpPr txBox="1"/>
          <p:nvPr/>
        </p:nvSpPr>
        <p:spPr>
          <a:xfrm>
            <a:off x="1463040" y="4352544"/>
            <a:ext cx="3017520" cy="502920"/>
          </a:xfrm>
          <a:prstGeom prst="rect">
            <a:avLst/>
          </a:prstGeom>
          <a:noFill/>
          <a:ln/>
        </p:spPr>
        <p:txBody>
          <a:bodyPr wrap="square" lIns="0" tIns="0" rIns="0" bIns="0" rtlCol="0" anchor="ctr"/>
          <a:lstStyle/>
          <a:p>
            <a:pPr indent="0" marL="0">
              <a:buNone/>
            </a:pPr>
            <a:r>
              <a:rPr lang="en-US" sz="1600" b="1" dirty="0">
                <a:solidFill>
                  <a:srgbClr val="312E81"/>
                </a:solidFill>
                <a:latin typeface="Calibri" pitchFamily="34" charset="0"/>
                <a:ea typeface="Calibri" pitchFamily="34" charset="-122"/>
                <a:cs typeface="Calibri" pitchFamily="34" charset="-120"/>
              </a:rPr>
              <a:t>Results</a:t>
            </a:r>
            <a:endParaRPr lang="en-US" sz="1600" dirty="0"/>
          </a:p>
        </p:txBody>
      </p:sp>
      <p:sp>
        <p:nvSpPr>
          <p:cNvPr id="19" name="Text 17"/>
          <p:cNvSpPr txBox="1"/>
          <p:nvPr/>
        </p:nvSpPr>
        <p:spPr>
          <a:xfrm>
            <a:off x="4572000" y="4352544"/>
            <a:ext cx="69494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VQE+QNGD baseline, and 5 trained GNN variants, noisy and noiseless</a:t>
            </a:r>
            <a:endParaRPr lang="en-US" sz="1350" dirty="0"/>
          </a:p>
        </p:txBody>
      </p:sp>
      <p:sp>
        <p:nvSpPr>
          <p:cNvPr id="20" name="Shape 18"/>
          <p:cNvSpPr/>
          <p:nvPr/>
        </p:nvSpPr>
        <p:spPr>
          <a:xfrm>
            <a:off x="731520" y="5257800"/>
            <a:ext cx="502920" cy="502920"/>
          </a:xfrm>
          <a:prstGeom prst="ellipse">
            <a:avLst/>
          </a:prstGeom>
          <a:solidFill>
            <a:srgbClr val="4F46E5"/>
          </a:solidFill>
          <a:ln/>
        </p:spPr>
      </p:sp>
      <p:sp>
        <p:nvSpPr>
          <p:cNvPr id="21" name="Text 19"/>
          <p:cNvSpPr txBox="1"/>
          <p:nvPr/>
        </p:nvSpPr>
        <p:spPr>
          <a:xfrm>
            <a:off x="731520" y="5257800"/>
            <a:ext cx="502920" cy="50292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22" name="Text 20"/>
          <p:cNvSpPr txBox="1"/>
          <p:nvPr/>
        </p:nvSpPr>
        <p:spPr>
          <a:xfrm>
            <a:off x="1463040" y="5221224"/>
            <a:ext cx="3017520" cy="502920"/>
          </a:xfrm>
          <a:prstGeom prst="rect">
            <a:avLst/>
          </a:prstGeom>
          <a:noFill/>
          <a:ln/>
        </p:spPr>
        <p:txBody>
          <a:bodyPr wrap="square" lIns="0" tIns="0" rIns="0" bIns="0" rtlCol="0" anchor="ctr"/>
          <a:lstStyle/>
          <a:p>
            <a:pPr indent="0" marL="0">
              <a:buNone/>
            </a:pPr>
            <a:r>
              <a:rPr lang="en-US" sz="1600" b="1" dirty="0">
                <a:solidFill>
                  <a:srgbClr val="312E81"/>
                </a:solidFill>
                <a:latin typeface="Calibri" pitchFamily="34" charset="0"/>
                <a:ea typeface="Calibri" pitchFamily="34" charset="-122"/>
                <a:cs typeface="Calibri" pitchFamily="34" charset="-120"/>
              </a:rPr>
              <a:t>Status &amp; next</a:t>
            </a:r>
            <a:endParaRPr lang="en-US" sz="1600" dirty="0"/>
          </a:p>
        </p:txBody>
      </p:sp>
      <p:sp>
        <p:nvSpPr>
          <p:cNvPr id="23" name="Text 21"/>
          <p:cNvSpPr txBox="1"/>
          <p:nvPr/>
        </p:nvSpPr>
        <p:spPr>
          <a:xfrm>
            <a:off x="4572000" y="5221224"/>
            <a:ext cx="6949440" cy="548640"/>
          </a:xfrm>
          <a:prstGeom prst="rect">
            <a:avLst/>
          </a:prstGeom>
          <a:noFill/>
          <a:ln/>
        </p:spPr>
        <p:txBody>
          <a:bodyPr wrap="square" lIns="0" tIns="0" rIns="0" bIns="0" rtlCol="0" anchor="ctr"/>
          <a:lstStyle/>
          <a:p>
            <a:pPr indent="0" marL="0">
              <a:buNone/>
            </a:pPr>
            <a:r>
              <a:rPr lang="en-US" sz="1350" dirty="0">
                <a:solidFill>
                  <a:srgbClr val="64748B"/>
                </a:solidFill>
                <a:latin typeface="Calibri" pitchFamily="34" charset="0"/>
                <a:ea typeface="Calibri" pitchFamily="34" charset="-122"/>
                <a:cs typeface="Calibri" pitchFamily="34" charset="-120"/>
              </a:rPr>
              <a:t>What's done, what's open, and where we're headed next</a:t>
            </a:r>
            <a:endParaRPr lang="en-US" sz="13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MOTIVATION</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Why ground-state energy, and why VQE</a:t>
            </a:r>
            <a:endParaRPr lang="en-US" sz="2900" dirty="0"/>
          </a:p>
        </p:txBody>
      </p:sp>
      <p:sp>
        <p:nvSpPr>
          <p:cNvPr id="4" name="Text 2"/>
          <p:cNvSpPr txBox="1"/>
          <p:nvPr/>
        </p:nvSpPr>
        <p:spPr>
          <a:xfrm>
            <a:off x="640080" y="1783080"/>
            <a:ext cx="640080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50" dirty="0">
                <a:solidFill>
                  <a:srgbClr val="312E81"/>
                </a:solidFill>
                <a:latin typeface="Calibri" pitchFamily="34" charset="0"/>
                <a:ea typeface="Calibri" pitchFamily="34" charset="-122"/>
                <a:cs typeface="Calibri" pitchFamily="34" charset="-120"/>
              </a:rPr>
              <a:t>A system's ground-state energy determines molecular structure, material conductivity, and drug-target binding.</a:t>
            </a:r>
            <a:endParaRPr lang="en-US" sz="1550" dirty="0"/>
          </a:p>
          <a:p>
            <a:pPr marL="228600" indent="-228600">
              <a:lnSpc>
                <a:spcPct val="115000"/>
              </a:lnSpc>
              <a:spcAft>
                <a:spcPts val="1200"/>
              </a:spcAft>
              <a:buSzPct val="100000"/>
              <a:buChar char="●"/>
            </a:pPr>
            <a:r>
              <a:rPr lang="en-US" sz="1550" dirty="0">
                <a:solidFill>
                  <a:srgbClr val="312E81"/>
                </a:solidFill>
                <a:latin typeface="Calibri" pitchFamily="34" charset="0"/>
                <a:ea typeface="Calibri" pitchFamily="34" charset="-122"/>
                <a:cs typeface="Calibri" pitchFamily="34" charset="-120"/>
              </a:rPr>
              <a:t>Finding it exactly means diagonalizing a matrix that grows as 2^n — intractable well before interesting system sizes.</a:t>
            </a:r>
            <a:endParaRPr lang="en-US" sz="1550" dirty="0"/>
          </a:p>
          <a:p>
            <a:pPr marL="228600" indent="-228600">
              <a:lnSpc>
                <a:spcPct val="115000"/>
              </a:lnSpc>
              <a:spcAft>
                <a:spcPts val="1200"/>
              </a:spcAft>
              <a:buSzPct val="100000"/>
              <a:buChar char="●"/>
            </a:pPr>
            <a:r>
              <a:rPr lang="en-US" sz="1550" dirty="0">
                <a:solidFill>
                  <a:srgbClr val="312E81"/>
                </a:solidFill>
                <a:latin typeface="Calibri" pitchFamily="34" charset="0"/>
                <a:ea typeface="Calibri" pitchFamily="34" charset="-122"/>
                <a:cs typeface="Calibri" pitchFamily="34" charset="-120"/>
              </a:rPr>
              <a:t>VQE sidesteps this: a quantum circuit prepares and measures the energy of a trial state; a classical optimizer adjusts the parameters.</a:t>
            </a:r>
            <a:endParaRPr lang="en-US" sz="1550" dirty="0"/>
          </a:p>
          <a:p>
            <a:pPr marL="228600" indent="-228600">
              <a:lnSpc>
                <a:spcPct val="115000"/>
              </a:lnSpc>
              <a:spcAft>
                <a:spcPts val="1200"/>
              </a:spcAft>
              <a:buSzPct val="100000"/>
              <a:buChar char="●"/>
            </a:pPr>
            <a:r>
              <a:rPr lang="en-US" sz="1550" dirty="0">
                <a:solidFill>
                  <a:srgbClr val="312E81"/>
                </a:solidFill>
                <a:latin typeface="Calibri" pitchFamily="34" charset="0"/>
                <a:ea typeface="Calibri" pitchFamily="34" charset="-122"/>
                <a:cs typeface="Calibri" pitchFamily="34" charset="-120"/>
              </a:rPr>
              <a:t>On NISQ hardware, cost is dominated by the number of circuit executions, not wall-clock time — every circuit run has a real cost.</a:t>
            </a:r>
            <a:endParaRPr lang="en-US" sz="1550" dirty="0"/>
          </a:p>
        </p:txBody>
      </p:sp>
      <p:sp>
        <p:nvSpPr>
          <p:cNvPr id="5" name="Shape 3"/>
          <p:cNvSpPr/>
          <p:nvPr/>
        </p:nvSpPr>
        <p:spPr>
          <a:xfrm>
            <a:off x="7406640" y="1783080"/>
            <a:ext cx="4114800" cy="1828800"/>
          </a:xfrm>
          <a:prstGeom prst="roundRect">
            <a:avLst>
              <a:gd name="adj" fmla="val 5000"/>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6" name="Text 4"/>
          <p:cNvSpPr txBox="1"/>
          <p:nvPr/>
        </p:nvSpPr>
        <p:spPr>
          <a:xfrm>
            <a:off x="7543800" y="1920240"/>
            <a:ext cx="3840480" cy="1143000"/>
          </a:xfrm>
          <a:prstGeom prst="rect">
            <a:avLst/>
          </a:prstGeom>
          <a:noFill/>
          <a:ln/>
        </p:spPr>
        <p:txBody>
          <a:bodyPr wrap="square" lIns="0" tIns="0" rIns="0" bIns="0" rtlCol="0" anchor="b"/>
          <a:lstStyle/>
          <a:p>
            <a:pPr algn="ctr" indent="0" marL="0">
              <a:buNone/>
            </a:pPr>
            <a:r>
              <a:rPr lang="en-US" sz="4600" b="1" dirty="0">
                <a:solidFill>
                  <a:srgbClr val="DC2626"/>
                </a:solidFill>
                <a:latin typeface="Cambria" pitchFamily="34" charset="0"/>
                <a:ea typeface="Cambria" pitchFamily="34" charset="-122"/>
                <a:cs typeface="Cambria" pitchFamily="34" charset="-120"/>
              </a:rPr>
              <a:t>2^n</a:t>
            </a:r>
            <a:endParaRPr lang="en-US" sz="4600" dirty="0"/>
          </a:p>
        </p:txBody>
      </p:sp>
      <p:sp>
        <p:nvSpPr>
          <p:cNvPr id="7" name="Text 5"/>
          <p:cNvSpPr txBox="1"/>
          <p:nvPr/>
        </p:nvSpPr>
        <p:spPr>
          <a:xfrm>
            <a:off x="7543800" y="3108960"/>
            <a:ext cx="384048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classical diagonalization cost — intractable beyond a few dozen qubits</a:t>
            </a:r>
            <a:endParaRPr lang="en-US" sz="1150" dirty="0"/>
          </a:p>
        </p:txBody>
      </p:sp>
      <p:sp>
        <p:nvSpPr>
          <p:cNvPr id="8" name="Shape 6"/>
          <p:cNvSpPr/>
          <p:nvPr/>
        </p:nvSpPr>
        <p:spPr>
          <a:xfrm>
            <a:off x="7406640" y="3886200"/>
            <a:ext cx="4114800" cy="2103120"/>
          </a:xfrm>
          <a:prstGeom prst="roundRect">
            <a:avLst>
              <a:gd name="adj" fmla="val 4348"/>
            </a:avLst>
          </a:prstGeom>
          <a:solidFill>
            <a:srgbClr val="EEF2FF"/>
          </a:solidFill>
          <a:ln/>
          <a:effectLst>
            <a:outerShdw sx="100000" sy="100000" kx="0" ky="0" algn="bl" rotWithShape="0" blurRad="127000" dist="38100" dir="5400000">
              <a:srgbClr val="312E81">
                <a:alpha val="18000"/>
              </a:srgbClr>
            </a:outerShdw>
          </a:effectLst>
        </p:spPr>
      </p:sp>
      <p:sp>
        <p:nvSpPr>
          <p:cNvPr id="9" name="Text 7"/>
          <p:cNvSpPr txBox="1"/>
          <p:nvPr/>
        </p:nvSpPr>
        <p:spPr>
          <a:xfrm>
            <a:off x="7607808" y="4069080"/>
            <a:ext cx="3712464" cy="36576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The hybrid loop</a:t>
            </a:r>
            <a:endParaRPr lang="en-US" sz="1500" dirty="0"/>
          </a:p>
        </p:txBody>
      </p:sp>
      <p:sp>
        <p:nvSpPr>
          <p:cNvPr id="10" name="Text 8"/>
          <p:cNvSpPr txBox="1"/>
          <p:nvPr/>
        </p:nvSpPr>
        <p:spPr>
          <a:xfrm>
            <a:off x="7607808" y="4453128"/>
            <a:ext cx="3712464" cy="1353312"/>
          </a:xfrm>
          <a:prstGeom prst="rect">
            <a:avLst/>
          </a:prstGeom>
          <a:noFill/>
          <a:ln/>
        </p:spPr>
        <p:txBody>
          <a:bodyPr wrap="square" lIns="0" tIns="0" rIns="0" bIns="0" rtlCol="0" anchor="t"/>
          <a:lstStyle/>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Quantum: prepare state, measure energy</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Classical: decide the next parameter update</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Repeat until energy converges — each round trip is one or more circuit executions</a:t>
            </a:r>
            <a:endParaRPr lang="en-US" sz="12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PROBLEM &amp; OBJECTIVES</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What we set out to do</a:t>
            </a:r>
            <a:endParaRPr lang="en-US" sz="2900" dirty="0"/>
          </a:p>
        </p:txBody>
      </p:sp>
      <p:sp>
        <p:nvSpPr>
          <p:cNvPr id="4" name="Shape 2"/>
          <p:cNvSpPr/>
          <p:nvPr/>
        </p:nvSpPr>
        <p:spPr>
          <a:xfrm>
            <a:off x="640080" y="1783080"/>
            <a:ext cx="10908792" cy="1234440"/>
          </a:xfrm>
          <a:prstGeom prst="roundRect">
            <a:avLst>
              <a:gd name="adj" fmla="val 7407"/>
            </a:avLst>
          </a:prstGeom>
          <a:solidFill>
            <a:srgbClr val="1E1B4B"/>
          </a:solidFill>
          <a:ln/>
        </p:spPr>
      </p:sp>
      <p:sp>
        <p:nvSpPr>
          <p:cNvPr id="5" name="Text 3"/>
          <p:cNvSpPr txBox="1"/>
          <p:nvPr/>
        </p:nvSpPr>
        <p:spPr>
          <a:xfrm>
            <a:off x="868680" y="1920240"/>
            <a:ext cx="10424160" cy="1005840"/>
          </a:xfrm>
          <a:prstGeom prst="rect">
            <a:avLst/>
          </a:prstGeom>
          <a:noFill/>
          <a:ln/>
        </p:spPr>
        <p:txBody>
          <a:bodyPr wrap="square" lIns="0" tIns="0" rIns="0" bIns="0" rtlCol="0" anchor="ctr"/>
          <a:lstStyle/>
          <a:p>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Learn  </a:t>
            </a:r>
            <a:pPr indent="0" marL="0">
              <a:lnSpc>
                <a:spcPct val="115000"/>
              </a:lnSpc>
              <a:buNone/>
            </a:pPr>
            <a:r>
              <a:rPr lang="en-US" sz="1450" i="1" dirty="0">
                <a:solidFill>
                  <a:srgbClr val="000000"/>
                </a:solidFill>
                <a:latin typeface="Calibri" pitchFamily="34" charset="0"/>
                <a:ea typeface="Calibri" pitchFamily="34" charset="-122"/>
                <a:cs typeface="Calibri" pitchFamily="34" charset="-120"/>
              </a:rPr>
              <a:t>f</a:t>
            </a:r>
            <a:pPr indent="0" marL="0">
              <a:lnSpc>
                <a:spcPct val="115000"/>
              </a:lnSpc>
              <a:buNone/>
            </a:pPr>
            <a:r>
              <a:rPr lang="en-US" sz="1450" b="1" dirty="0">
                <a:solidFill>
                  <a:srgbClr val="000000"/>
                </a:solidFill>
                <a:latin typeface="Calibri" pitchFamily="34" charset="0"/>
                <a:ea typeface="Calibri" pitchFamily="34" charset="-122"/>
                <a:cs typeface="Calibri" pitchFamily="34" charset="-120"/>
              </a:rPr>
              <a:t>ϕ(G_H, G_A, G_D) → θ₀</a:t>
            </a:r>
            <a:pPr indent="0" marL="0">
              <a:lnSpc>
                <a:spcPct val="115000"/>
              </a:lnSpc>
              <a:buNone/>
            </a:pPr>
            <a:r>
              <a:rPr lang="en-US" sz="1450" dirty="0">
                <a:solidFill>
                  <a:srgbClr val="000000"/>
                </a:solidFill>
                <a:latin typeface="Calibri" pitchFamily="34" charset="0"/>
                <a:ea typeface="Calibri" pitchFamily="34" charset="-122"/>
                <a:cs typeface="Calibri" pitchFamily="34" charset="-120"/>
              </a:rPr>
              <a:t>   such that VQE+QNGD from θ₀ reaches the target energy in fewer circuit executions than from a random start — never trained against pre-optimized labels, and generalizing to unseen Hamiltonians and an unseen qubit count.</a:t>
            </a:r>
            <a:endParaRPr lang="en-US" sz="1450" dirty="0"/>
          </a:p>
        </p:txBody>
      </p:sp>
      <p:sp>
        <p:nvSpPr>
          <p:cNvPr id="6" name="Shape 4"/>
          <p:cNvSpPr/>
          <p:nvPr/>
        </p:nvSpPr>
        <p:spPr>
          <a:xfrm>
            <a:off x="640080" y="3355848"/>
            <a:ext cx="365760" cy="365760"/>
          </a:xfrm>
          <a:prstGeom prst="ellipse">
            <a:avLst/>
          </a:prstGeom>
          <a:solidFill>
            <a:srgbClr val="4F46E5"/>
          </a:solidFill>
          <a:ln/>
        </p:spPr>
      </p:sp>
      <p:sp>
        <p:nvSpPr>
          <p:cNvPr id="7" name="Text 5"/>
          <p:cNvSpPr txBox="1"/>
          <p:nvPr/>
        </p:nvSpPr>
        <p:spPr>
          <a:xfrm>
            <a:off x="640080"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43000" y="3337560"/>
            <a:ext cx="4846320" cy="914400"/>
          </a:xfrm>
          <a:prstGeom prst="rect">
            <a:avLst/>
          </a:prstGeom>
          <a:noFill/>
          <a:ln/>
        </p:spPr>
        <p:txBody>
          <a:bodyPr wrap="square" lIns="0" tIns="0" rIns="0" bIns="0" rtlCol="0" anchor="t"/>
          <a:lstStyle/>
          <a:p>
            <a:pPr indent="0" marL="0">
              <a:lnSpc>
                <a:spcPct val="110000"/>
              </a:lnSpc>
              <a:buNone/>
            </a:pPr>
            <a:r>
              <a:rPr lang="en-US" sz="1250" dirty="0">
                <a:solidFill>
                  <a:srgbClr val="312E81"/>
                </a:solidFill>
                <a:latin typeface="Calibri" pitchFamily="34" charset="0"/>
                <a:ea typeface="Calibri" pitchFamily="34" charset="-122"/>
                <a:cs typeface="Calibri" pitchFamily="34" charset="-120"/>
              </a:rPr>
              <a:t>Reproduce the dataset's own VQE procedure and establish VQE+QNGD from random starts as the real baseline, with hardware-realistic circuit counting.</a:t>
            </a:r>
            <a:endParaRPr lang="en-US" sz="1250" dirty="0"/>
          </a:p>
        </p:txBody>
      </p:sp>
      <p:sp>
        <p:nvSpPr>
          <p:cNvPr id="9" name="Shape 7"/>
          <p:cNvSpPr/>
          <p:nvPr/>
        </p:nvSpPr>
        <p:spPr>
          <a:xfrm>
            <a:off x="6217920" y="3355848"/>
            <a:ext cx="365760" cy="365760"/>
          </a:xfrm>
          <a:prstGeom prst="ellipse">
            <a:avLst/>
          </a:prstGeom>
          <a:solidFill>
            <a:srgbClr val="4F46E5"/>
          </a:solidFill>
          <a:ln/>
        </p:spPr>
      </p:sp>
      <p:sp>
        <p:nvSpPr>
          <p:cNvPr id="10" name="Text 8"/>
          <p:cNvSpPr txBox="1"/>
          <p:nvPr/>
        </p:nvSpPr>
        <p:spPr>
          <a:xfrm>
            <a:off x="6217920" y="335584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6720840" y="3337560"/>
            <a:ext cx="4846320" cy="914400"/>
          </a:xfrm>
          <a:prstGeom prst="rect">
            <a:avLst/>
          </a:prstGeom>
          <a:noFill/>
          <a:ln/>
        </p:spPr>
        <p:txBody>
          <a:bodyPr wrap="square" lIns="0" tIns="0" rIns="0" bIns="0" rtlCol="0" anchor="t"/>
          <a:lstStyle/>
          <a:p>
            <a:pPr indent="0" marL="0">
              <a:lnSpc>
                <a:spcPct val="110000"/>
              </a:lnSpc>
              <a:buNone/>
            </a:pPr>
            <a:r>
              <a:rPr lang="en-US" sz="1250" dirty="0">
                <a:solidFill>
                  <a:srgbClr val="312E81"/>
                </a:solidFill>
                <a:latin typeface="Calibri" pitchFamily="34" charset="0"/>
                <a:ea typeface="Calibri" pitchFamily="34" charset="-122"/>
                <a:cs typeface="Calibri" pitchFamily="34" charset="-120"/>
              </a:rPr>
              <a:t>Design a 3-graph GNN initializer fusing Hamiltonian, ansatz, and hardware/noise graphs by cross-attention.</a:t>
            </a:r>
            <a:endParaRPr lang="en-US" sz="1250" dirty="0"/>
          </a:p>
        </p:txBody>
      </p:sp>
      <p:sp>
        <p:nvSpPr>
          <p:cNvPr id="12" name="Shape 10"/>
          <p:cNvSpPr/>
          <p:nvPr/>
        </p:nvSpPr>
        <p:spPr>
          <a:xfrm>
            <a:off x="640080" y="4361688"/>
            <a:ext cx="365760" cy="365760"/>
          </a:xfrm>
          <a:prstGeom prst="ellipse">
            <a:avLst/>
          </a:prstGeom>
          <a:solidFill>
            <a:srgbClr val="4F46E5"/>
          </a:solidFill>
          <a:ln/>
        </p:spPr>
      </p:sp>
      <p:sp>
        <p:nvSpPr>
          <p:cNvPr id="13" name="Text 11"/>
          <p:cNvSpPr txBox="1"/>
          <p:nvPr/>
        </p:nvSpPr>
        <p:spPr>
          <a:xfrm>
            <a:off x="640080" y="4361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43000" y="4343400"/>
            <a:ext cx="4846320" cy="914400"/>
          </a:xfrm>
          <a:prstGeom prst="rect">
            <a:avLst/>
          </a:prstGeom>
          <a:noFill/>
          <a:ln/>
        </p:spPr>
        <p:txBody>
          <a:bodyPr wrap="square" lIns="0" tIns="0" rIns="0" bIns="0" rtlCol="0" anchor="t"/>
          <a:lstStyle/>
          <a:p>
            <a:pPr indent="0" marL="0">
              <a:lnSpc>
                <a:spcPct val="110000"/>
              </a:lnSpc>
              <a:buNone/>
            </a:pPr>
            <a:r>
              <a:rPr lang="en-US" sz="1250" dirty="0">
                <a:solidFill>
                  <a:srgbClr val="312E81"/>
                </a:solidFill>
                <a:latin typeface="Calibri" pitchFamily="34" charset="0"/>
                <a:ea typeface="Calibri" pitchFamily="34" charset="-122"/>
                <a:cs typeface="Calibri" pitchFamily="34" charset="-120"/>
              </a:rPr>
              <a:t>Train it label-free, by unrolling the optimizer, and quantify how the objective changes what it learns.</a:t>
            </a:r>
            <a:endParaRPr lang="en-US" sz="1250" dirty="0"/>
          </a:p>
        </p:txBody>
      </p:sp>
      <p:sp>
        <p:nvSpPr>
          <p:cNvPr id="15" name="Shape 13"/>
          <p:cNvSpPr/>
          <p:nvPr/>
        </p:nvSpPr>
        <p:spPr>
          <a:xfrm>
            <a:off x="6217920" y="4361688"/>
            <a:ext cx="365760" cy="365760"/>
          </a:xfrm>
          <a:prstGeom prst="ellipse">
            <a:avLst/>
          </a:prstGeom>
          <a:solidFill>
            <a:srgbClr val="4F46E5"/>
          </a:solidFill>
          <a:ln/>
        </p:spPr>
      </p:sp>
      <p:sp>
        <p:nvSpPr>
          <p:cNvPr id="16" name="Text 14"/>
          <p:cNvSpPr txBox="1"/>
          <p:nvPr/>
        </p:nvSpPr>
        <p:spPr>
          <a:xfrm>
            <a:off x="6217920" y="436168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6720840" y="4343400"/>
            <a:ext cx="4846320" cy="914400"/>
          </a:xfrm>
          <a:prstGeom prst="rect">
            <a:avLst/>
          </a:prstGeom>
          <a:noFill/>
          <a:ln/>
        </p:spPr>
        <p:txBody>
          <a:bodyPr wrap="square" lIns="0" tIns="0" rIns="0" bIns="0" rtlCol="0" anchor="t"/>
          <a:lstStyle/>
          <a:p>
            <a:pPr indent="0" marL="0">
              <a:lnSpc>
                <a:spcPct val="110000"/>
              </a:lnSpc>
              <a:buNone/>
            </a:pPr>
            <a:r>
              <a:rPr lang="en-US" sz="1250" dirty="0">
                <a:solidFill>
                  <a:srgbClr val="312E81"/>
                </a:solidFill>
                <a:latin typeface="Calibri" pitchFamily="34" charset="0"/>
                <a:ea typeface="Calibri" pitchFamily="34" charset="-122"/>
                <a:cs typeface="Calibri" pitchFamily="34" charset="-120"/>
              </a:rPr>
              <a:t>Build a noise model from the hardware graph; train noise-unaware and noise-aware variants.</a:t>
            </a:r>
            <a:endParaRPr lang="en-US" sz="1250" dirty="0"/>
          </a:p>
        </p:txBody>
      </p:sp>
      <p:sp>
        <p:nvSpPr>
          <p:cNvPr id="18" name="Shape 16"/>
          <p:cNvSpPr/>
          <p:nvPr/>
        </p:nvSpPr>
        <p:spPr>
          <a:xfrm>
            <a:off x="640080" y="5367528"/>
            <a:ext cx="365760" cy="365760"/>
          </a:xfrm>
          <a:prstGeom prst="ellipse">
            <a:avLst/>
          </a:prstGeom>
          <a:solidFill>
            <a:srgbClr val="4F46E5"/>
          </a:solidFill>
          <a:ln/>
        </p:spPr>
      </p:sp>
      <p:sp>
        <p:nvSpPr>
          <p:cNvPr id="19" name="Text 17"/>
          <p:cNvSpPr txBox="1"/>
          <p:nvPr/>
        </p:nvSpPr>
        <p:spPr>
          <a:xfrm>
            <a:off x="640080" y="5367528"/>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43000" y="5349240"/>
            <a:ext cx="10405872" cy="914400"/>
          </a:xfrm>
          <a:prstGeom prst="rect">
            <a:avLst/>
          </a:prstGeom>
          <a:noFill/>
          <a:ln/>
        </p:spPr>
        <p:txBody>
          <a:bodyPr wrap="square" lIns="0" tIns="0" rIns="0" bIns="0" rtlCol="0" anchor="t"/>
          <a:lstStyle/>
          <a:p>
            <a:pPr indent="0" marL="0">
              <a:lnSpc>
                <a:spcPct val="110000"/>
              </a:lnSpc>
              <a:buNone/>
            </a:pPr>
            <a:r>
              <a:rPr lang="en-US" sz="1250" dirty="0">
                <a:solidFill>
                  <a:srgbClr val="312E81"/>
                </a:solidFill>
                <a:latin typeface="Calibri" pitchFamily="34" charset="0"/>
                <a:ea typeface="Calibri" pitchFamily="34" charset="-122"/>
                <a:cs typeface="Calibri" pitchFamily="34" charset="-120"/>
              </a:rPr>
              <a:t>Compare all variants against the baseline on held-out instances, including an unseen qubit count.</a:t>
            </a:r>
            <a:endParaRPr lang="en-US" sz="12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RESEARCH GAP</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What existing learned initializers miss</a:t>
            </a:r>
            <a:endParaRPr lang="en-US" sz="2900" dirty="0"/>
          </a:p>
        </p:txBody>
      </p:sp>
      <p:sp>
        <p:nvSpPr>
          <p:cNvPr id="4" name="Shape 2"/>
          <p:cNvSpPr/>
          <p:nvPr/>
        </p:nvSpPr>
        <p:spPr>
          <a:xfrm>
            <a:off x="640080" y="1874520"/>
            <a:ext cx="2542032" cy="3931920"/>
          </a:xfrm>
          <a:prstGeom prst="roundRect">
            <a:avLst>
              <a:gd name="adj" fmla="val 3597"/>
            </a:avLst>
          </a:prstGeom>
          <a:solidFill>
            <a:srgbClr val="EEF2FF"/>
          </a:solidFill>
          <a:ln/>
          <a:effectLst>
            <a:outerShdw sx="100000" sy="100000" kx="0" ky="0" algn="bl" rotWithShape="0" blurRad="127000" dist="38100" dir="5400000">
              <a:srgbClr val="312E81">
                <a:alpha val="18000"/>
              </a:srgbClr>
            </a:outerShdw>
          </a:effectLst>
        </p:spPr>
      </p:sp>
      <p:sp>
        <p:nvSpPr>
          <p:cNvPr id="5" name="Text 3"/>
          <p:cNvSpPr txBox="1"/>
          <p:nvPr/>
        </p:nvSpPr>
        <p:spPr>
          <a:xfrm>
            <a:off x="822960" y="2103120"/>
            <a:ext cx="2176272" cy="548640"/>
          </a:xfrm>
          <a:prstGeom prst="rect">
            <a:avLst/>
          </a:prstGeom>
          <a:noFill/>
          <a:ln/>
        </p:spPr>
        <p:txBody>
          <a:bodyPr wrap="square" lIns="0" tIns="0" rIns="0" bIns="0" rtlCol="0" anchor="ctr"/>
          <a:lstStyle/>
          <a:p>
            <a:pPr indent="0" marL="0">
              <a:buNone/>
            </a:pPr>
            <a:r>
              <a:rPr lang="en-US" sz="1600" b="1" dirty="0">
                <a:solidFill>
                  <a:srgbClr val="4F46E5"/>
                </a:solidFill>
                <a:latin typeface="Cambria" pitchFamily="34" charset="0"/>
                <a:ea typeface="Cambria" pitchFamily="34" charset="-122"/>
                <a:cs typeface="Cambria" pitchFamily="34" charset="-120"/>
              </a:rPr>
              <a:t>Qracle (2025)</a:t>
            </a:r>
            <a:endParaRPr lang="en-US" sz="1600" dirty="0"/>
          </a:p>
        </p:txBody>
      </p:sp>
      <p:sp>
        <p:nvSpPr>
          <p:cNvPr id="6" name="Text 4"/>
          <p:cNvSpPr txBox="1"/>
          <p:nvPr/>
        </p:nvSpPr>
        <p:spPr>
          <a:xfrm>
            <a:off x="822960" y="2743200"/>
            <a:ext cx="2176272" cy="2834640"/>
          </a:xfrm>
          <a:prstGeom prst="rect">
            <a:avLst/>
          </a:prstGeom>
          <a:noFill/>
          <a:ln/>
        </p:spPr>
        <p:txBody>
          <a:bodyPr wrap="square" lIns="0" tIns="0" rIns="0" bIns="0" rtlCol="0" anchor="t"/>
          <a:lstStyle/>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Maps a single problem/ansatz graph</a:t>
            </a:r>
            <a:endParaRPr lang="en-US" sz="1200" dirty="0"/>
          </a:p>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to a VQE parameter vector</a:t>
            </a:r>
            <a:endParaRPr lang="en-US" sz="1200" dirty="0"/>
          </a:p>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No hardware or noise awareness</a:t>
            </a:r>
            <a:endParaRPr lang="en-US" sz="1200" dirty="0"/>
          </a:p>
        </p:txBody>
      </p:sp>
      <p:sp>
        <p:nvSpPr>
          <p:cNvPr id="7" name="Shape 5"/>
          <p:cNvSpPr/>
          <p:nvPr/>
        </p:nvSpPr>
        <p:spPr>
          <a:xfrm>
            <a:off x="3364992" y="1874520"/>
            <a:ext cx="2542032" cy="3931920"/>
          </a:xfrm>
          <a:prstGeom prst="roundRect">
            <a:avLst>
              <a:gd name="adj" fmla="val 3597"/>
            </a:avLst>
          </a:prstGeom>
          <a:solidFill>
            <a:srgbClr val="EEF2FF"/>
          </a:solidFill>
          <a:ln/>
          <a:effectLst>
            <a:outerShdw sx="100000" sy="100000" kx="0" ky="0" algn="bl" rotWithShape="0" blurRad="127000" dist="38100" dir="5400000">
              <a:srgbClr val="312E81">
                <a:alpha val="18000"/>
              </a:srgbClr>
            </a:outerShdw>
          </a:effectLst>
        </p:spPr>
      </p:sp>
      <p:sp>
        <p:nvSpPr>
          <p:cNvPr id="8" name="Text 6"/>
          <p:cNvSpPr txBox="1"/>
          <p:nvPr/>
        </p:nvSpPr>
        <p:spPr>
          <a:xfrm>
            <a:off x="3547872" y="2103120"/>
            <a:ext cx="2176272" cy="548640"/>
          </a:xfrm>
          <a:prstGeom prst="rect">
            <a:avLst/>
          </a:prstGeom>
          <a:noFill/>
          <a:ln/>
        </p:spPr>
        <p:txBody>
          <a:bodyPr wrap="square" lIns="0" tIns="0" rIns="0" bIns="0" rtlCol="0" anchor="ctr"/>
          <a:lstStyle/>
          <a:p>
            <a:pPr indent="0" marL="0">
              <a:buNone/>
            </a:pPr>
            <a:r>
              <a:rPr lang="en-US" sz="1600" b="1" dirty="0">
                <a:solidFill>
                  <a:srgbClr val="4F46E5"/>
                </a:solidFill>
                <a:latin typeface="Cambria" pitchFamily="34" charset="0"/>
                <a:ea typeface="Cambria" pitchFamily="34" charset="-122"/>
                <a:cs typeface="Cambria" pitchFamily="34" charset="-120"/>
              </a:rPr>
              <a:t>QSeer</a:t>
            </a:r>
            <a:endParaRPr lang="en-US" sz="1600" dirty="0"/>
          </a:p>
        </p:txBody>
      </p:sp>
      <p:sp>
        <p:nvSpPr>
          <p:cNvPr id="9" name="Text 7"/>
          <p:cNvSpPr txBox="1"/>
          <p:nvPr/>
        </p:nvSpPr>
        <p:spPr>
          <a:xfrm>
            <a:off x="3547872" y="2743200"/>
            <a:ext cx="2176272" cy="2834640"/>
          </a:xfrm>
          <a:prstGeom prst="rect">
            <a:avLst/>
          </a:prstGeom>
          <a:noFill/>
          <a:ln/>
        </p:spPr>
        <p:txBody>
          <a:bodyPr wrap="square" lIns="0" tIns="0" rIns="0" bIns="0" rtlCol="0" anchor="t"/>
          <a:lstStyle/>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Same idea, for QAOA instead</a:t>
            </a:r>
            <a:endParaRPr lang="en-US" sz="1200" dirty="0"/>
          </a:p>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of VQE</a:t>
            </a:r>
            <a:endParaRPr lang="en-US" sz="1200" dirty="0"/>
          </a:p>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Same gap: hardware-blind</a:t>
            </a:r>
            <a:endParaRPr lang="en-US" sz="1200" dirty="0"/>
          </a:p>
        </p:txBody>
      </p:sp>
      <p:sp>
        <p:nvSpPr>
          <p:cNvPr id="10" name="Shape 8"/>
          <p:cNvSpPr/>
          <p:nvPr/>
        </p:nvSpPr>
        <p:spPr>
          <a:xfrm>
            <a:off x="6089904" y="1874520"/>
            <a:ext cx="2542032" cy="3931920"/>
          </a:xfrm>
          <a:prstGeom prst="roundRect">
            <a:avLst>
              <a:gd name="adj" fmla="val 3597"/>
            </a:avLst>
          </a:prstGeom>
          <a:solidFill>
            <a:srgbClr val="EEF2FF"/>
          </a:solidFill>
          <a:ln/>
          <a:effectLst>
            <a:outerShdw sx="100000" sy="100000" kx="0" ky="0" algn="bl" rotWithShape="0" blurRad="127000" dist="38100" dir="5400000">
              <a:srgbClr val="312E81">
                <a:alpha val="18000"/>
              </a:srgbClr>
            </a:outerShdw>
          </a:effectLst>
        </p:spPr>
      </p:sp>
      <p:sp>
        <p:nvSpPr>
          <p:cNvPr id="11" name="Text 9"/>
          <p:cNvSpPr txBox="1"/>
          <p:nvPr/>
        </p:nvSpPr>
        <p:spPr>
          <a:xfrm>
            <a:off x="6272784" y="2103120"/>
            <a:ext cx="2176272" cy="548640"/>
          </a:xfrm>
          <a:prstGeom prst="rect">
            <a:avLst/>
          </a:prstGeom>
          <a:noFill/>
          <a:ln/>
        </p:spPr>
        <p:txBody>
          <a:bodyPr wrap="square" lIns="0" tIns="0" rIns="0" bIns="0" rtlCol="0" anchor="ctr"/>
          <a:lstStyle/>
          <a:p>
            <a:pPr indent="0" marL="0">
              <a:buNone/>
            </a:pPr>
            <a:r>
              <a:rPr lang="en-US" sz="1600" b="1" dirty="0">
                <a:solidFill>
                  <a:srgbClr val="4F46E5"/>
                </a:solidFill>
                <a:latin typeface="Cambria" pitchFamily="34" charset="0"/>
                <a:ea typeface="Cambria" pitchFamily="34" charset="-122"/>
                <a:cs typeface="Cambria" pitchFamily="34" charset="-120"/>
              </a:rPr>
              <a:t>Clifford init.</a:t>
            </a:r>
            <a:endParaRPr lang="en-US" sz="1600" dirty="0"/>
          </a:p>
        </p:txBody>
      </p:sp>
      <p:sp>
        <p:nvSpPr>
          <p:cNvPr id="12" name="Text 10"/>
          <p:cNvSpPr txBox="1"/>
          <p:nvPr/>
        </p:nvSpPr>
        <p:spPr>
          <a:xfrm>
            <a:off x="6272784" y="2743200"/>
            <a:ext cx="2176272" cy="2834640"/>
          </a:xfrm>
          <a:prstGeom prst="rect">
            <a:avLst/>
          </a:prstGeom>
          <a:noFill/>
          <a:ln/>
        </p:spPr>
        <p:txBody>
          <a:bodyPr wrap="square" lIns="0" tIns="0" rIns="0" bIns="0" rtlCol="0" anchor="t"/>
          <a:lstStyle/>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Non-learned, avoids the gap</a:t>
            </a:r>
            <a:endParaRPr lang="en-US" sz="1200" dirty="0"/>
          </a:p>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entirely</a:t>
            </a:r>
            <a:endParaRPr lang="en-US" sz="1200" dirty="0"/>
          </a:p>
          <a:p>
            <a:pPr marL="152400" indent="-152400">
              <a:lnSpc>
                <a:spcPct val="125000"/>
              </a:lnSpc>
              <a:spcAft>
                <a:spcPts val="1000"/>
              </a:spcAft>
              <a:buSzPct val="100000"/>
              <a:buChar char="—"/>
            </a:pPr>
            <a:r>
              <a:rPr lang="en-US" sz="1200" dirty="0">
                <a:solidFill>
                  <a:srgbClr val="312E81"/>
                </a:solidFill>
                <a:latin typeface="Calibri" pitchFamily="34" charset="0"/>
                <a:ea typeface="Calibri" pitchFamily="34" charset="-122"/>
                <a:cs typeface="Calibri" pitchFamily="34" charset="-120"/>
              </a:rPr>
              <a:t>Can't specialize to a problem family</a:t>
            </a:r>
            <a:endParaRPr lang="en-US" sz="1200" dirty="0"/>
          </a:p>
        </p:txBody>
      </p:sp>
      <p:sp>
        <p:nvSpPr>
          <p:cNvPr id="13" name="Shape 11"/>
          <p:cNvSpPr/>
          <p:nvPr/>
        </p:nvSpPr>
        <p:spPr>
          <a:xfrm>
            <a:off x="8814816" y="1874520"/>
            <a:ext cx="2542032" cy="3931920"/>
          </a:xfrm>
          <a:prstGeom prst="roundRect">
            <a:avLst>
              <a:gd name="adj" fmla="val 3597"/>
            </a:avLst>
          </a:prstGeom>
          <a:solidFill>
            <a:srgbClr val="4F46E5"/>
          </a:solidFill>
          <a:ln/>
          <a:effectLst>
            <a:outerShdw sx="100000" sy="100000" kx="0" ky="0" algn="bl" rotWithShape="0" blurRad="127000" dist="38100" dir="5400000">
              <a:srgbClr val="312E81">
                <a:alpha val="18000"/>
              </a:srgbClr>
            </a:outerShdw>
          </a:effectLst>
        </p:spPr>
      </p:sp>
      <p:sp>
        <p:nvSpPr>
          <p:cNvPr id="14" name="Text 12"/>
          <p:cNvSpPr txBox="1"/>
          <p:nvPr/>
        </p:nvSpPr>
        <p:spPr>
          <a:xfrm>
            <a:off x="8997696" y="2103120"/>
            <a:ext cx="2176272" cy="548640"/>
          </a:xfrm>
          <a:prstGeom prst="rect">
            <a:avLst/>
          </a:prstGeom>
          <a:noFill/>
          <a:ln/>
        </p:spPr>
        <p:txBody>
          <a:bodyPr wrap="square" lIns="0" tIns="0" rIns="0" bIns="0" rtlCol="0" anchor="ctr"/>
          <a:lstStyle/>
          <a:p>
            <a:pPr indent="0" marL="0">
              <a:buNone/>
            </a:pPr>
            <a:r>
              <a:rPr lang="en-US" sz="1600" b="1" dirty="0">
                <a:solidFill>
                  <a:srgbClr val="000000"/>
                </a:solidFill>
                <a:latin typeface="Cambria" pitchFamily="34" charset="0"/>
                <a:ea typeface="Cambria" pitchFamily="34" charset="-122"/>
                <a:cs typeface="Cambria" pitchFamily="34" charset="-120"/>
              </a:rPr>
              <a:t>This project</a:t>
            </a:r>
            <a:endParaRPr lang="en-US" sz="1600" dirty="0"/>
          </a:p>
        </p:txBody>
      </p:sp>
      <p:sp>
        <p:nvSpPr>
          <p:cNvPr id="15" name="Text 13"/>
          <p:cNvSpPr txBox="1"/>
          <p:nvPr/>
        </p:nvSpPr>
        <p:spPr>
          <a:xfrm>
            <a:off x="8997696" y="2743200"/>
            <a:ext cx="2176272" cy="2834640"/>
          </a:xfrm>
          <a:prstGeom prst="rect">
            <a:avLst/>
          </a:prstGeom>
          <a:noFill/>
          <a:ln/>
        </p:spPr>
        <p:txBody>
          <a:bodyPr wrap="square" lIns="0" tIns="0" rIns="0" bIns="0" rtlCol="0" anchor="t"/>
          <a:lstStyle/>
          <a:p>
            <a:pPr marL="152400" indent="-1524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3 graphs: Hamiltonian + ansatz</a:t>
            </a:r>
            <a:endParaRPr lang="en-US" sz="1200" dirty="0"/>
          </a:p>
          <a:p>
            <a:pPr marL="152400" indent="-1524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 hardware/noise, fused jointly</a:t>
            </a:r>
            <a:endParaRPr lang="en-US" sz="1200" dirty="0"/>
          </a:p>
          <a:p>
            <a:pPr marL="152400" indent="-1524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Trained with the optimizer (QNGD)</a:t>
            </a:r>
            <a:endParaRPr lang="en-US" sz="1200" dirty="0"/>
          </a:p>
          <a:p>
            <a:pPr marL="152400" indent="-152400">
              <a:lnSpc>
                <a:spcPct val="125000"/>
              </a:lnSpc>
              <a:spcAft>
                <a:spcPts val="1000"/>
              </a:spcAft>
              <a:buSzPct val="100000"/>
              <a:buChar char="—"/>
            </a:pPr>
            <a:r>
              <a:rPr lang="en-US" sz="1200" dirty="0">
                <a:solidFill>
                  <a:srgbClr val="FFFFFF"/>
                </a:solidFill>
                <a:latin typeface="Calibri" pitchFamily="34" charset="0"/>
                <a:ea typeface="Calibri" pitchFamily="34" charset="-122"/>
                <a:cs typeface="Calibri" pitchFamily="34" charset="-120"/>
              </a:rPr>
              <a:t>in the loop, noise-aware</a:t>
            </a:r>
            <a:endParaRPr lang="en-US" sz="120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SYSTEM ARCHITECTURE</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Five modules, end to end</a:t>
            </a:r>
            <a:endParaRPr lang="en-US" sz="2900" dirty="0"/>
          </a:p>
        </p:txBody>
      </p:sp>
      <p:sp>
        <p:nvSpPr>
          <p:cNvPr id="4" name="Shape 2"/>
          <p:cNvSpPr/>
          <p:nvPr/>
        </p:nvSpPr>
        <p:spPr>
          <a:xfrm>
            <a:off x="3657600" y="2583180"/>
            <a:ext cx="914400" cy="914"/>
          </a:xfrm>
          <a:prstGeom prst="line">
            <a:avLst/>
          </a:prstGeom>
          <a:noFill/>
          <a:ln w="19050">
            <a:solidFill>
              <a:srgbClr val="64748B"/>
            </a:solidFill>
            <a:prstDash val="solid"/>
            <a:tailEnd type="triangle"/>
          </a:ln>
        </p:spPr>
      </p:sp>
      <p:sp>
        <p:nvSpPr>
          <p:cNvPr id="5" name="Shape 3"/>
          <p:cNvSpPr/>
          <p:nvPr/>
        </p:nvSpPr>
        <p:spPr>
          <a:xfrm>
            <a:off x="7635240" y="2583180"/>
            <a:ext cx="914400" cy="914"/>
          </a:xfrm>
          <a:prstGeom prst="line">
            <a:avLst/>
          </a:prstGeom>
          <a:noFill/>
          <a:ln w="19050">
            <a:solidFill>
              <a:srgbClr val="64748B"/>
            </a:solidFill>
            <a:prstDash val="solid"/>
            <a:tailEnd type="triangle"/>
          </a:ln>
        </p:spPr>
      </p:sp>
      <p:sp>
        <p:nvSpPr>
          <p:cNvPr id="6" name="Shape 4"/>
          <p:cNvSpPr/>
          <p:nvPr/>
        </p:nvSpPr>
        <p:spPr>
          <a:xfrm>
            <a:off x="2125980" y="3200400"/>
            <a:ext cx="914" cy="1051560"/>
          </a:xfrm>
          <a:prstGeom prst="line">
            <a:avLst/>
          </a:prstGeom>
          <a:noFill/>
          <a:ln w="19050">
            <a:solidFill>
              <a:srgbClr val="64748B"/>
            </a:solidFill>
            <a:prstDash val="solid"/>
            <a:tailEnd type="triangle"/>
          </a:ln>
        </p:spPr>
      </p:sp>
      <p:sp>
        <p:nvSpPr>
          <p:cNvPr id="7" name="Shape 5"/>
          <p:cNvSpPr/>
          <p:nvPr/>
        </p:nvSpPr>
        <p:spPr>
          <a:xfrm>
            <a:off x="6103620" y="3200400"/>
            <a:ext cx="914" cy="1051560"/>
          </a:xfrm>
          <a:prstGeom prst="line">
            <a:avLst/>
          </a:prstGeom>
          <a:noFill/>
          <a:ln w="19050">
            <a:solidFill>
              <a:srgbClr val="64748B"/>
            </a:solidFill>
            <a:prstDash val="solid"/>
            <a:tailEnd type="triangle"/>
          </a:ln>
        </p:spPr>
      </p:sp>
      <p:sp>
        <p:nvSpPr>
          <p:cNvPr id="8" name="Shape 6"/>
          <p:cNvSpPr/>
          <p:nvPr/>
        </p:nvSpPr>
        <p:spPr>
          <a:xfrm>
            <a:off x="3657600" y="4869180"/>
            <a:ext cx="914400" cy="914"/>
          </a:xfrm>
          <a:prstGeom prst="line">
            <a:avLst/>
          </a:prstGeom>
          <a:noFill/>
          <a:ln w="19050">
            <a:solidFill>
              <a:srgbClr val="64748B"/>
            </a:solidFill>
            <a:prstDash val="solid"/>
            <a:tailEnd type="triangle"/>
          </a:ln>
        </p:spPr>
      </p:sp>
      <p:sp>
        <p:nvSpPr>
          <p:cNvPr id="9" name="Shape 7"/>
          <p:cNvSpPr/>
          <p:nvPr/>
        </p:nvSpPr>
        <p:spPr>
          <a:xfrm>
            <a:off x="7635240" y="4869180"/>
            <a:ext cx="2446020" cy="914"/>
          </a:xfrm>
          <a:prstGeom prst="line">
            <a:avLst/>
          </a:prstGeom>
          <a:noFill/>
          <a:ln w="19050">
            <a:solidFill>
              <a:srgbClr val="64748B"/>
            </a:solidFill>
            <a:prstDash val="solid"/>
            <a:tailEnd type="none"/>
          </a:ln>
        </p:spPr>
      </p:sp>
      <p:sp>
        <p:nvSpPr>
          <p:cNvPr id="10" name="Shape 8"/>
          <p:cNvSpPr/>
          <p:nvPr/>
        </p:nvSpPr>
        <p:spPr>
          <a:xfrm flipV="1">
            <a:off x="10081260" y="3200400"/>
            <a:ext cx="914" cy="1668780"/>
          </a:xfrm>
          <a:prstGeom prst="line">
            <a:avLst/>
          </a:prstGeom>
          <a:noFill/>
          <a:ln w="19050">
            <a:solidFill>
              <a:srgbClr val="64748B"/>
            </a:solidFill>
            <a:prstDash val="solid"/>
            <a:tailEnd type="triangle"/>
          </a:ln>
        </p:spPr>
      </p:sp>
      <p:sp>
        <p:nvSpPr>
          <p:cNvPr id="11" name="Shape 9"/>
          <p:cNvSpPr/>
          <p:nvPr/>
        </p:nvSpPr>
        <p:spPr>
          <a:xfrm>
            <a:off x="594360" y="1965960"/>
            <a:ext cx="3063240" cy="1234440"/>
          </a:xfrm>
          <a:prstGeom prst="roundRect">
            <a:avLst>
              <a:gd name="adj" fmla="val 6667"/>
            </a:avLst>
          </a:prstGeom>
          <a:solidFill>
            <a:srgbClr val="EEF2FF"/>
          </a:solidFill>
          <a:ln w="12700">
            <a:solidFill>
              <a:srgbClr val="4F46E5"/>
            </a:solidFill>
            <a:prstDash val="solid"/>
          </a:ln>
          <a:effectLst>
            <a:outerShdw sx="100000" sy="100000" kx="0" ky="0" algn="bl" rotWithShape="0" blurRad="127000" dist="38100" dir="5400000">
              <a:srgbClr val="312E81">
                <a:alpha val="18000"/>
              </a:srgbClr>
            </a:outerShdw>
          </a:effectLst>
        </p:spPr>
      </p:sp>
      <p:sp>
        <p:nvSpPr>
          <p:cNvPr id="12" name="Shape 10"/>
          <p:cNvSpPr/>
          <p:nvPr/>
        </p:nvSpPr>
        <p:spPr>
          <a:xfrm>
            <a:off x="429768" y="1801368"/>
            <a:ext cx="384048" cy="384048"/>
          </a:xfrm>
          <a:prstGeom prst="ellipse">
            <a:avLst/>
          </a:prstGeom>
          <a:solidFill>
            <a:srgbClr val="4F46E5"/>
          </a:solidFill>
          <a:ln/>
        </p:spPr>
      </p:sp>
      <p:sp>
        <p:nvSpPr>
          <p:cNvPr id="13" name="Text 11"/>
          <p:cNvSpPr txBox="1"/>
          <p:nvPr/>
        </p:nvSpPr>
        <p:spPr>
          <a:xfrm>
            <a:off x="429768"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4" name="Text 12"/>
          <p:cNvSpPr txBox="1"/>
          <p:nvPr/>
        </p:nvSpPr>
        <p:spPr>
          <a:xfrm>
            <a:off x="777240" y="2093976"/>
            <a:ext cx="2697480" cy="320040"/>
          </a:xfrm>
          <a:prstGeom prst="rect">
            <a:avLst/>
          </a:prstGeom>
          <a:noFill/>
          <a:ln/>
        </p:spPr>
        <p:txBody>
          <a:bodyPr wrap="square" lIns="0" tIns="0" rIns="0" bIns="0" rtlCol="0" anchor="ctr"/>
          <a:lstStyle/>
          <a:p>
            <a:pPr indent="0" marL="0">
              <a:buNone/>
            </a:pPr>
            <a:r>
              <a:rPr lang="en-US" sz="1400" b="1" dirty="0">
                <a:solidFill>
                  <a:srgbClr val="312E81"/>
                </a:solidFill>
                <a:latin typeface="Calibri" pitchFamily="34" charset="0"/>
                <a:ea typeface="Calibri" pitchFamily="34" charset="-122"/>
                <a:cs typeface="Calibri" pitchFamily="34" charset="-120"/>
              </a:rPr>
              <a:t>Three Graphs</a:t>
            </a:r>
            <a:endParaRPr lang="en-US" sz="1400" dirty="0"/>
          </a:p>
        </p:txBody>
      </p:sp>
      <p:sp>
        <p:nvSpPr>
          <p:cNvPr id="15" name="Text 13"/>
          <p:cNvSpPr txBox="1"/>
          <p:nvPr/>
        </p:nvSpPr>
        <p:spPr>
          <a:xfrm>
            <a:off x="777240" y="2468880"/>
            <a:ext cx="269748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G_H, G_A, G_D built</a:t>
            </a:r>
            <a:endParaRPr lang="en-US" sz="1150" dirty="0"/>
          </a:p>
        </p:txBody>
      </p:sp>
      <p:sp>
        <p:nvSpPr>
          <p:cNvPr id="16" name="Text 14"/>
          <p:cNvSpPr txBox="1"/>
          <p:nvPr/>
        </p:nvSpPr>
        <p:spPr>
          <a:xfrm>
            <a:off x="777240" y="2743200"/>
            <a:ext cx="26974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per VQE instance</a:t>
            </a:r>
            <a:endParaRPr lang="en-US" sz="1150" dirty="0"/>
          </a:p>
        </p:txBody>
      </p:sp>
      <p:sp>
        <p:nvSpPr>
          <p:cNvPr id="17" name="Shape 15"/>
          <p:cNvSpPr/>
          <p:nvPr/>
        </p:nvSpPr>
        <p:spPr>
          <a:xfrm>
            <a:off x="4572000" y="1965960"/>
            <a:ext cx="3063240" cy="1234440"/>
          </a:xfrm>
          <a:prstGeom prst="roundRect">
            <a:avLst>
              <a:gd name="adj" fmla="val 6667"/>
            </a:avLst>
          </a:prstGeom>
          <a:solidFill>
            <a:srgbClr val="EEF2FF"/>
          </a:solidFill>
          <a:ln w="12700">
            <a:solidFill>
              <a:srgbClr val="4F46E5"/>
            </a:solidFill>
            <a:prstDash val="solid"/>
          </a:ln>
          <a:effectLst>
            <a:outerShdw sx="100000" sy="100000" kx="0" ky="0" algn="bl" rotWithShape="0" blurRad="127000" dist="38100" dir="5400000">
              <a:srgbClr val="312E81">
                <a:alpha val="18000"/>
              </a:srgbClr>
            </a:outerShdw>
          </a:effectLst>
        </p:spPr>
      </p:sp>
      <p:sp>
        <p:nvSpPr>
          <p:cNvPr id="18" name="Shape 16"/>
          <p:cNvSpPr/>
          <p:nvPr/>
        </p:nvSpPr>
        <p:spPr>
          <a:xfrm>
            <a:off x="4407408" y="1801368"/>
            <a:ext cx="384048" cy="384048"/>
          </a:xfrm>
          <a:prstGeom prst="ellipse">
            <a:avLst/>
          </a:prstGeom>
          <a:solidFill>
            <a:srgbClr val="4F46E5"/>
          </a:solidFill>
          <a:ln/>
        </p:spPr>
      </p:sp>
      <p:sp>
        <p:nvSpPr>
          <p:cNvPr id="19" name="Text 17"/>
          <p:cNvSpPr txBox="1"/>
          <p:nvPr/>
        </p:nvSpPr>
        <p:spPr>
          <a:xfrm>
            <a:off x="4407408"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4754880" y="2093976"/>
            <a:ext cx="2697480" cy="320040"/>
          </a:xfrm>
          <a:prstGeom prst="rect">
            <a:avLst/>
          </a:prstGeom>
          <a:noFill/>
          <a:ln/>
        </p:spPr>
        <p:txBody>
          <a:bodyPr wrap="square" lIns="0" tIns="0" rIns="0" bIns="0" rtlCol="0" anchor="ctr"/>
          <a:lstStyle/>
          <a:p>
            <a:pPr indent="0" marL="0">
              <a:buNone/>
            </a:pPr>
            <a:r>
              <a:rPr lang="en-US" sz="1400" b="1" dirty="0">
                <a:solidFill>
                  <a:srgbClr val="312E81"/>
                </a:solidFill>
                <a:latin typeface="Calibri" pitchFamily="34" charset="0"/>
                <a:ea typeface="Calibri" pitchFamily="34" charset="-122"/>
                <a:cs typeface="Calibri" pitchFamily="34" charset="-120"/>
              </a:rPr>
              <a:t>GNN Initializer</a:t>
            </a:r>
            <a:endParaRPr lang="en-US" sz="1400" dirty="0"/>
          </a:p>
        </p:txBody>
      </p:sp>
      <p:sp>
        <p:nvSpPr>
          <p:cNvPr id="21" name="Text 19"/>
          <p:cNvSpPr txBox="1"/>
          <p:nvPr/>
        </p:nvSpPr>
        <p:spPr>
          <a:xfrm>
            <a:off x="4754880" y="2468880"/>
            <a:ext cx="269748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3 GAT encoders +</a:t>
            </a:r>
            <a:endParaRPr lang="en-US" sz="1150" dirty="0"/>
          </a:p>
        </p:txBody>
      </p:sp>
      <p:sp>
        <p:nvSpPr>
          <p:cNvPr id="22" name="Text 20"/>
          <p:cNvSpPr txBox="1"/>
          <p:nvPr/>
        </p:nvSpPr>
        <p:spPr>
          <a:xfrm>
            <a:off x="4754880" y="2743200"/>
            <a:ext cx="26974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cross-attention → θ₀</a:t>
            </a:r>
            <a:endParaRPr lang="en-US" sz="1150" dirty="0"/>
          </a:p>
        </p:txBody>
      </p:sp>
      <p:sp>
        <p:nvSpPr>
          <p:cNvPr id="23" name="Shape 21"/>
          <p:cNvSpPr/>
          <p:nvPr/>
        </p:nvSpPr>
        <p:spPr>
          <a:xfrm>
            <a:off x="8549640" y="1965960"/>
            <a:ext cx="3063240" cy="1234440"/>
          </a:xfrm>
          <a:prstGeom prst="roundRect">
            <a:avLst>
              <a:gd name="adj" fmla="val 6667"/>
            </a:avLst>
          </a:prstGeom>
          <a:solidFill>
            <a:srgbClr val="EEF2FF"/>
          </a:solidFill>
          <a:ln w="12700">
            <a:solidFill>
              <a:srgbClr val="4F46E5"/>
            </a:solidFill>
            <a:prstDash val="solid"/>
          </a:ln>
          <a:effectLst>
            <a:outerShdw sx="100000" sy="100000" kx="0" ky="0" algn="bl" rotWithShape="0" blurRad="127000" dist="38100" dir="5400000">
              <a:srgbClr val="312E81">
                <a:alpha val="18000"/>
              </a:srgbClr>
            </a:outerShdw>
          </a:effectLst>
        </p:spPr>
      </p:sp>
      <p:sp>
        <p:nvSpPr>
          <p:cNvPr id="24" name="Shape 22"/>
          <p:cNvSpPr/>
          <p:nvPr/>
        </p:nvSpPr>
        <p:spPr>
          <a:xfrm>
            <a:off x="8385048" y="1801368"/>
            <a:ext cx="384048" cy="384048"/>
          </a:xfrm>
          <a:prstGeom prst="ellipse">
            <a:avLst/>
          </a:prstGeom>
          <a:solidFill>
            <a:srgbClr val="4F46E5"/>
          </a:solidFill>
          <a:ln/>
        </p:spPr>
      </p:sp>
      <p:sp>
        <p:nvSpPr>
          <p:cNvPr id="25" name="Text 23"/>
          <p:cNvSpPr txBox="1"/>
          <p:nvPr/>
        </p:nvSpPr>
        <p:spPr>
          <a:xfrm>
            <a:off x="8385048" y="1801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6" name="Text 24"/>
          <p:cNvSpPr txBox="1"/>
          <p:nvPr/>
        </p:nvSpPr>
        <p:spPr>
          <a:xfrm>
            <a:off x="8732520" y="2093976"/>
            <a:ext cx="2697480" cy="320040"/>
          </a:xfrm>
          <a:prstGeom prst="rect">
            <a:avLst/>
          </a:prstGeom>
          <a:noFill/>
          <a:ln/>
        </p:spPr>
        <p:txBody>
          <a:bodyPr wrap="square" lIns="0" tIns="0" rIns="0" bIns="0" rtlCol="0" anchor="ctr"/>
          <a:lstStyle/>
          <a:p>
            <a:pPr indent="0" marL="0">
              <a:buNone/>
            </a:pPr>
            <a:r>
              <a:rPr lang="en-US" sz="1400" b="1" dirty="0">
                <a:solidFill>
                  <a:srgbClr val="312E81"/>
                </a:solidFill>
                <a:latin typeface="Calibri" pitchFamily="34" charset="0"/>
                <a:ea typeface="Calibri" pitchFamily="34" charset="-122"/>
                <a:cs typeface="Calibri" pitchFamily="34" charset="-120"/>
              </a:rPr>
              <a:t>VQE+QNGD Evaluation</a:t>
            </a:r>
            <a:endParaRPr lang="en-US" sz="1400" dirty="0"/>
          </a:p>
        </p:txBody>
      </p:sp>
      <p:sp>
        <p:nvSpPr>
          <p:cNvPr id="27" name="Text 25"/>
          <p:cNvSpPr txBox="1"/>
          <p:nvPr/>
        </p:nvSpPr>
        <p:spPr>
          <a:xfrm>
            <a:off x="8732520" y="2468880"/>
            <a:ext cx="269748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Circuits counted via</a:t>
            </a:r>
            <a:endParaRPr lang="en-US" sz="1150" dirty="0"/>
          </a:p>
        </p:txBody>
      </p:sp>
      <p:sp>
        <p:nvSpPr>
          <p:cNvPr id="28" name="Text 26"/>
          <p:cNvSpPr txBox="1"/>
          <p:nvPr/>
        </p:nvSpPr>
        <p:spPr>
          <a:xfrm>
            <a:off x="8732520" y="2743200"/>
            <a:ext cx="26974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qml.Tracker, vs exact E₀</a:t>
            </a:r>
            <a:endParaRPr lang="en-US" sz="1150" dirty="0"/>
          </a:p>
        </p:txBody>
      </p:sp>
      <p:sp>
        <p:nvSpPr>
          <p:cNvPr id="29" name="Shape 27"/>
          <p:cNvSpPr/>
          <p:nvPr/>
        </p:nvSpPr>
        <p:spPr>
          <a:xfrm>
            <a:off x="594360" y="4251960"/>
            <a:ext cx="3063240" cy="1234440"/>
          </a:xfrm>
          <a:prstGeom prst="roundRect">
            <a:avLst>
              <a:gd name="adj" fmla="val 6667"/>
            </a:avLst>
          </a:prstGeom>
          <a:solidFill>
            <a:srgbClr val="EEF2FF"/>
          </a:solidFill>
          <a:ln w="12700">
            <a:solidFill>
              <a:srgbClr val="4F46E5"/>
            </a:solidFill>
            <a:prstDash val="solid"/>
          </a:ln>
          <a:effectLst>
            <a:outerShdw sx="100000" sy="100000" kx="0" ky="0" algn="bl" rotWithShape="0" blurRad="127000" dist="38100" dir="5400000">
              <a:srgbClr val="312E81">
                <a:alpha val="18000"/>
              </a:srgbClr>
            </a:outerShdw>
          </a:effectLst>
        </p:spPr>
      </p:sp>
      <p:sp>
        <p:nvSpPr>
          <p:cNvPr id="30" name="Shape 28"/>
          <p:cNvSpPr/>
          <p:nvPr/>
        </p:nvSpPr>
        <p:spPr>
          <a:xfrm>
            <a:off x="429768" y="4087368"/>
            <a:ext cx="384048" cy="384048"/>
          </a:xfrm>
          <a:prstGeom prst="ellipse">
            <a:avLst/>
          </a:prstGeom>
          <a:solidFill>
            <a:srgbClr val="4F46E5"/>
          </a:solidFill>
          <a:ln/>
        </p:spPr>
      </p:sp>
      <p:sp>
        <p:nvSpPr>
          <p:cNvPr id="31" name="Text 29"/>
          <p:cNvSpPr txBox="1"/>
          <p:nvPr/>
        </p:nvSpPr>
        <p:spPr>
          <a:xfrm>
            <a:off x="429768"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32" name="Text 30"/>
          <p:cNvSpPr txBox="1"/>
          <p:nvPr/>
        </p:nvSpPr>
        <p:spPr>
          <a:xfrm>
            <a:off x="777240" y="4379976"/>
            <a:ext cx="2697480" cy="320040"/>
          </a:xfrm>
          <a:prstGeom prst="rect">
            <a:avLst/>
          </a:prstGeom>
          <a:noFill/>
          <a:ln/>
        </p:spPr>
        <p:txBody>
          <a:bodyPr wrap="square" lIns="0" tIns="0" rIns="0" bIns="0" rtlCol="0" anchor="ctr"/>
          <a:lstStyle/>
          <a:p>
            <a:pPr indent="0" marL="0">
              <a:buNone/>
            </a:pPr>
            <a:r>
              <a:rPr lang="en-US" sz="1400" b="1" dirty="0">
                <a:solidFill>
                  <a:srgbClr val="312E81"/>
                </a:solidFill>
                <a:latin typeface="Calibri" pitchFamily="34" charset="0"/>
                <a:ea typeface="Calibri" pitchFamily="34" charset="-122"/>
                <a:cs typeface="Calibri" pitchFamily="34" charset="-120"/>
              </a:rPr>
              <a:t>Noise Simulator</a:t>
            </a:r>
            <a:endParaRPr lang="en-US" sz="1400" dirty="0"/>
          </a:p>
        </p:txBody>
      </p:sp>
      <p:sp>
        <p:nvSpPr>
          <p:cNvPr id="33" name="Text 31"/>
          <p:cNvSpPr txBox="1"/>
          <p:nvPr/>
        </p:nvSpPr>
        <p:spPr>
          <a:xfrm>
            <a:off x="777240" y="4754880"/>
            <a:ext cx="269748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Custom PyTorch</a:t>
            </a:r>
            <a:endParaRPr lang="en-US" sz="1150" dirty="0"/>
          </a:p>
        </p:txBody>
      </p:sp>
      <p:sp>
        <p:nvSpPr>
          <p:cNvPr id="34" name="Text 32"/>
          <p:cNvSpPr txBox="1"/>
          <p:nvPr/>
        </p:nvSpPr>
        <p:spPr>
          <a:xfrm>
            <a:off x="777240" y="5029200"/>
            <a:ext cx="26974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density-matrix sim</a:t>
            </a:r>
            <a:endParaRPr lang="en-US" sz="1150" dirty="0"/>
          </a:p>
        </p:txBody>
      </p:sp>
      <p:sp>
        <p:nvSpPr>
          <p:cNvPr id="35" name="Shape 33"/>
          <p:cNvSpPr/>
          <p:nvPr/>
        </p:nvSpPr>
        <p:spPr>
          <a:xfrm>
            <a:off x="4572000" y="4251960"/>
            <a:ext cx="3063240" cy="1234440"/>
          </a:xfrm>
          <a:prstGeom prst="roundRect">
            <a:avLst>
              <a:gd name="adj" fmla="val 6667"/>
            </a:avLst>
          </a:prstGeom>
          <a:solidFill>
            <a:srgbClr val="EEF2FF"/>
          </a:solidFill>
          <a:ln w="12700">
            <a:solidFill>
              <a:srgbClr val="4F46E5"/>
            </a:solidFill>
            <a:prstDash val="solid"/>
          </a:ln>
          <a:effectLst>
            <a:outerShdw sx="100000" sy="100000" kx="0" ky="0" algn="bl" rotWithShape="0" blurRad="127000" dist="38100" dir="5400000">
              <a:srgbClr val="312E81">
                <a:alpha val="18000"/>
              </a:srgbClr>
            </a:outerShdw>
          </a:effectLst>
        </p:spPr>
      </p:sp>
      <p:sp>
        <p:nvSpPr>
          <p:cNvPr id="36" name="Shape 34"/>
          <p:cNvSpPr/>
          <p:nvPr/>
        </p:nvSpPr>
        <p:spPr>
          <a:xfrm>
            <a:off x="4407408" y="4087368"/>
            <a:ext cx="384048" cy="384048"/>
          </a:xfrm>
          <a:prstGeom prst="ellipse">
            <a:avLst/>
          </a:prstGeom>
          <a:solidFill>
            <a:srgbClr val="4F46E5"/>
          </a:solidFill>
          <a:ln/>
        </p:spPr>
      </p:sp>
      <p:sp>
        <p:nvSpPr>
          <p:cNvPr id="37" name="Text 35"/>
          <p:cNvSpPr txBox="1"/>
          <p:nvPr/>
        </p:nvSpPr>
        <p:spPr>
          <a:xfrm>
            <a:off x="4407408" y="408736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8" name="Text 36"/>
          <p:cNvSpPr txBox="1"/>
          <p:nvPr/>
        </p:nvSpPr>
        <p:spPr>
          <a:xfrm>
            <a:off x="4754880" y="4379976"/>
            <a:ext cx="2697480" cy="320040"/>
          </a:xfrm>
          <a:prstGeom prst="rect">
            <a:avLst/>
          </a:prstGeom>
          <a:noFill/>
          <a:ln/>
        </p:spPr>
        <p:txBody>
          <a:bodyPr wrap="square" lIns="0" tIns="0" rIns="0" bIns="0" rtlCol="0" anchor="ctr"/>
          <a:lstStyle/>
          <a:p>
            <a:pPr indent="0" marL="0">
              <a:buNone/>
            </a:pPr>
            <a:r>
              <a:rPr lang="en-US" sz="1400" b="1" dirty="0">
                <a:solidFill>
                  <a:srgbClr val="312E81"/>
                </a:solidFill>
                <a:latin typeface="Calibri" pitchFamily="34" charset="0"/>
                <a:ea typeface="Calibri" pitchFamily="34" charset="-122"/>
                <a:cs typeface="Calibri" pitchFamily="34" charset="-120"/>
              </a:rPr>
              <a:t>Label-free Training</a:t>
            </a:r>
            <a:endParaRPr lang="en-US" sz="1400" dirty="0"/>
          </a:p>
        </p:txBody>
      </p:sp>
      <p:sp>
        <p:nvSpPr>
          <p:cNvPr id="39" name="Text 37"/>
          <p:cNvSpPr txBox="1"/>
          <p:nvPr/>
        </p:nvSpPr>
        <p:spPr>
          <a:xfrm>
            <a:off x="4754880" y="4754880"/>
            <a:ext cx="2697480" cy="27432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Unroll K GD/QNGD steps,</a:t>
            </a:r>
            <a:endParaRPr lang="en-US" sz="1150" dirty="0"/>
          </a:p>
        </p:txBody>
      </p:sp>
      <p:sp>
        <p:nvSpPr>
          <p:cNvPr id="40" name="Text 38"/>
          <p:cNvSpPr txBox="1"/>
          <p:nvPr/>
        </p:nvSpPr>
        <p:spPr>
          <a:xfrm>
            <a:off x="4754880" y="5029200"/>
            <a:ext cx="2697480" cy="365760"/>
          </a:xfrm>
          <a:prstGeom prst="rect">
            <a:avLst/>
          </a:prstGeom>
          <a:noFill/>
          <a:ln/>
        </p:spPr>
        <p:txBody>
          <a:bodyPr wrap="square" lIns="0" tIns="0" rIns="0" bIns="0" rtlCol="0" anchor="ctr"/>
          <a:lstStyle/>
          <a:p>
            <a:pPr indent="0" marL="0">
              <a:buNone/>
            </a:pPr>
            <a:r>
              <a:rPr lang="en-US" sz="1150" dirty="0">
                <a:solidFill>
                  <a:srgbClr val="64748B"/>
                </a:solidFill>
                <a:latin typeface="Calibri" pitchFamily="34" charset="0"/>
                <a:ea typeface="Calibri" pitchFamily="34" charset="-122"/>
                <a:cs typeface="Calibri" pitchFamily="34" charset="-120"/>
              </a:rPr>
              <a:t>backprop — no labels needed</a:t>
            </a:r>
            <a:endParaRPr lang="en-US" sz="11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640080" y="274320"/>
            <a:ext cx="292608" cy="292608"/>
          </a:xfrm>
          <a:prstGeom prst="ellipse">
            <a:avLst/>
          </a:prstGeom>
          <a:solidFill>
            <a:srgbClr val="4F46E5"/>
          </a:solidFill>
          <a:ln/>
        </p:spPr>
      </p:sp>
      <p:sp>
        <p:nvSpPr>
          <p:cNvPr id="3" name="Text 1"/>
          <p:cNvSpPr txBox="1"/>
          <p:nvPr/>
        </p:nvSpPr>
        <p:spPr>
          <a:xfrm>
            <a:off x="640080" y="274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4"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DATA REPRESENTATION</a:t>
            </a:r>
            <a:endParaRPr lang="en-US" sz="1200" dirty="0"/>
          </a:p>
        </p:txBody>
      </p:sp>
      <p:sp>
        <p:nvSpPr>
          <p:cNvPr id="5"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Three graph views of one VQE instance</a:t>
            </a:r>
            <a:endParaRPr lang="en-US" sz="2900" dirty="0"/>
          </a:p>
        </p:txBody>
      </p:sp>
      <p:sp>
        <p:nvSpPr>
          <p:cNvPr id="6" name="Shape 4"/>
          <p:cNvSpPr/>
          <p:nvPr/>
        </p:nvSpPr>
        <p:spPr>
          <a:xfrm>
            <a:off x="640080" y="1783080"/>
            <a:ext cx="3456432" cy="3931920"/>
          </a:xfrm>
          <a:prstGeom prst="roundRect">
            <a:avLst>
              <a:gd name="adj" fmla="val 2646"/>
            </a:avLst>
          </a:prstGeom>
          <a:solidFill>
            <a:srgbClr val="EEF2FF"/>
          </a:solidFill>
          <a:ln/>
          <a:effectLst>
            <a:outerShdw sx="100000" sy="100000" kx="0" ky="0" algn="bl" rotWithShape="0" blurRad="127000" dist="38100" dir="5400000">
              <a:srgbClr val="312E81">
                <a:alpha val="18000"/>
              </a:srgbClr>
            </a:outerShdw>
          </a:effectLst>
        </p:spPr>
      </p:sp>
      <p:sp>
        <p:nvSpPr>
          <p:cNvPr id="7" name="Text 5"/>
          <p:cNvSpPr txBox="1"/>
          <p:nvPr/>
        </p:nvSpPr>
        <p:spPr>
          <a:xfrm>
            <a:off x="841248" y="1965960"/>
            <a:ext cx="3054096" cy="36576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G_H — Hamiltonian graph</a:t>
            </a:r>
            <a:endParaRPr lang="en-US" sz="1500" dirty="0"/>
          </a:p>
        </p:txBody>
      </p:sp>
      <p:sp>
        <p:nvSpPr>
          <p:cNvPr id="8" name="Text 6"/>
          <p:cNvSpPr txBox="1"/>
          <p:nvPr/>
        </p:nvSpPr>
        <p:spPr>
          <a:xfrm>
            <a:off x="841248" y="2350008"/>
            <a:ext cx="3054096" cy="3182112"/>
          </a:xfrm>
          <a:prstGeom prst="rect">
            <a:avLst/>
          </a:prstGeom>
          <a:noFill/>
          <a:ln/>
        </p:spPr>
        <p:txBody>
          <a:bodyPr wrap="square" lIns="0" tIns="0" rIns="0" bIns="0" rtlCol="0" anchor="t"/>
          <a:lstStyle/>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One node per qubit</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Edges from the Hamiltonian's own coupling terms</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Multi-qubit terms (e.g. Jordan-Wigner strings) are clique-expanded into pairwise edges</a:t>
            </a:r>
            <a:endParaRPr lang="en-US" sz="1250" dirty="0"/>
          </a:p>
        </p:txBody>
      </p:sp>
      <p:sp>
        <p:nvSpPr>
          <p:cNvPr id="9" name="Shape 7"/>
          <p:cNvSpPr/>
          <p:nvPr/>
        </p:nvSpPr>
        <p:spPr>
          <a:xfrm>
            <a:off x="4279392" y="1783080"/>
            <a:ext cx="3456432" cy="3931920"/>
          </a:xfrm>
          <a:prstGeom prst="roundRect">
            <a:avLst>
              <a:gd name="adj" fmla="val 2646"/>
            </a:avLst>
          </a:prstGeom>
          <a:solidFill>
            <a:srgbClr val="EEF2FF"/>
          </a:solidFill>
          <a:ln/>
          <a:effectLst>
            <a:outerShdw sx="100000" sy="100000" kx="0" ky="0" algn="bl" rotWithShape="0" blurRad="127000" dist="38100" dir="5400000">
              <a:srgbClr val="312E81">
                <a:alpha val="18000"/>
              </a:srgbClr>
            </a:outerShdw>
          </a:effectLst>
        </p:spPr>
      </p:sp>
      <p:sp>
        <p:nvSpPr>
          <p:cNvPr id="10" name="Text 8"/>
          <p:cNvSpPr txBox="1"/>
          <p:nvPr/>
        </p:nvSpPr>
        <p:spPr>
          <a:xfrm>
            <a:off x="4480560" y="1965960"/>
            <a:ext cx="3054096" cy="36576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G_A — Ansatz graph</a:t>
            </a:r>
            <a:endParaRPr lang="en-US" sz="1500" dirty="0"/>
          </a:p>
        </p:txBody>
      </p:sp>
      <p:sp>
        <p:nvSpPr>
          <p:cNvPr id="11" name="Text 9"/>
          <p:cNvSpPr txBox="1"/>
          <p:nvPr/>
        </p:nvSpPr>
        <p:spPr>
          <a:xfrm>
            <a:off x="4480560" y="2350008"/>
            <a:ext cx="3054096" cy="3182112"/>
          </a:xfrm>
          <a:prstGeom prst="rect">
            <a:avLst/>
          </a:prstGeom>
          <a:noFill/>
          <a:ln/>
        </p:spPr>
        <p:txBody>
          <a:bodyPr wrap="square" lIns="0" tIns="0" rIns="0" bIns="0" rtlCol="0" anchor="t"/>
          <a:lstStyle/>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One node per (qubit, layer) gate slot</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Entangling edges follow the CZ ring</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Temporal edges link the same qubit across layers</a:t>
            </a:r>
            <a:endParaRPr lang="en-US" sz="1250" dirty="0"/>
          </a:p>
        </p:txBody>
      </p:sp>
      <p:sp>
        <p:nvSpPr>
          <p:cNvPr id="12" name="Shape 10"/>
          <p:cNvSpPr/>
          <p:nvPr/>
        </p:nvSpPr>
        <p:spPr>
          <a:xfrm>
            <a:off x="7918704" y="1783080"/>
            <a:ext cx="3456432" cy="3931920"/>
          </a:xfrm>
          <a:prstGeom prst="roundRect">
            <a:avLst>
              <a:gd name="adj" fmla="val 2646"/>
            </a:avLst>
          </a:prstGeom>
          <a:solidFill>
            <a:srgbClr val="EEF2FF"/>
          </a:solidFill>
          <a:ln/>
          <a:effectLst>
            <a:outerShdw sx="100000" sy="100000" kx="0" ky="0" algn="bl" rotWithShape="0" blurRad="127000" dist="38100" dir="5400000">
              <a:srgbClr val="312E81">
                <a:alpha val="18000"/>
              </a:srgbClr>
            </a:outerShdw>
          </a:effectLst>
        </p:spPr>
      </p:sp>
      <p:sp>
        <p:nvSpPr>
          <p:cNvPr id="13" name="Text 11"/>
          <p:cNvSpPr txBox="1"/>
          <p:nvPr/>
        </p:nvSpPr>
        <p:spPr>
          <a:xfrm>
            <a:off x="8119872" y="1965960"/>
            <a:ext cx="3054096" cy="36576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G_D — Hardware / noise graph</a:t>
            </a:r>
            <a:endParaRPr lang="en-US" sz="1500" dirty="0"/>
          </a:p>
        </p:txBody>
      </p:sp>
      <p:sp>
        <p:nvSpPr>
          <p:cNvPr id="14" name="Text 12"/>
          <p:cNvSpPr txBox="1"/>
          <p:nvPr/>
        </p:nvSpPr>
        <p:spPr>
          <a:xfrm>
            <a:off x="8119872" y="2350008"/>
            <a:ext cx="3054096" cy="3182112"/>
          </a:xfrm>
          <a:prstGeom prst="rect">
            <a:avLst/>
          </a:prstGeom>
          <a:noFill/>
          <a:ln/>
        </p:spPr>
        <p:txBody>
          <a:bodyPr wrap="square" lIns="0" tIns="0" rIns="0" bIns="0" rtlCol="0" anchor="t"/>
          <a:lstStyle/>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Physical qubits as nodes</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Sampled topology: linear, ring, or grid</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Per-qubit/coupler noise: readout error, gate error, coherence time</a:t>
            </a:r>
            <a:endParaRPr lang="en-US" sz="1250" dirty="0"/>
          </a:p>
        </p:txBody>
      </p:sp>
      <p:sp>
        <p:nvSpPr>
          <p:cNvPr id="15" name="Text 13"/>
          <p:cNvSpPr txBox="1"/>
          <p:nvPr/>
        </p:nvSpPr>
        <p:spPr>
          <a:xfrm>
            <a:off x="640080" y="5897880"/>
            <a:ext cx="10908792" cy="548640"/>
          </a:xfrm>
          <a:prstGeom prst="rect">
            <a:avLst/>
          </a:prstGeom>
          <a:noFill/>
          <a:ln/>
        </p:spPr>
        <p:txBody>
          <a:bodyPr wrap="square" lIns="0" tIns="0" rIns="0" bIns="0" rtlCol="0" anchor="ctr"/>
          <a:lstStyle/>
          <a:p>
            <a:pPr indent="0" marL="0">
              <a:buNone/>
            </a:pPr>
            <a:r>
              <a:rPr lang="en-US" sz="1150" i="1" dirty="0">
                <a:solidFill>
                  <a:srgbClr val="64748B"/>
                </a:solidFill>
                <a:latin typeface="Calibri" pitchFamily="34" charset="0"/>
                <a:ea typeface="Calibri" pitchFamily="34" charset="-122"/>
                <a:cs typeface="Calibri" pitchFamily="34" charset="-120"/>
              </a:rPr>
              <a:t>VQEzy stores only the raw coupling constants and qubit count — each Hamiltonian is rebuilt from its textbook formula, and the hardware graph is synthetic, deliberately varied per instance.</a:t>
            </a:r>
            <a:endParaRPr lang="en-US" sz="11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080" y="274320"/>
            <a:ext cx="292608" cy="292608"/>
          </a:xfrm>
          <a:prstGeom prst="ellipse">
            <a:avLst/>
          </a:prstGeom>
          <a:solidFill>
            <a:srgbClr val="4F46E5"/>
          </a:solidFill>
          <a:ln/>
        </p:spPr>
      </p:sp>
      <p:sp>
        <p:nvSpPr>
          <p:cNvPr id="3" name="Text 1"/>
          <p:cNvSpPr txBox="1"/>
          <p:nvPr/>
        </p:nvSpPr>
        <p:spPr>
          <a:xfrm>
            <a:off x="640080" y="274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4"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CUSTOM SIMULATION</a:t>
            </a:r>
            <a:endParaRPr lang="en-US" sz="1200" dirty="0"/>
          </a:p>
        </p:txBody>
      </p:sp>
      <p:sp>
        <p:nvSpPr>
          <p:cNvPr id="5"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A differentiable noise simulator, built from scratch</a:t>
            </a:r>
            <a:endParaRPr lang="en-US" sz="2900" dirty="0"/>
          </a:p>
        </p:txBody>
      </p:sp>
      <p:sp>
        <p:nvSpPr>
          <p:cNvPr id="6" name="Text 4"/>
          <p:cNvSpPr txBox="1"/>
          <p:nvPr/>
        </p:nvSpPr>
        <p:spPr>
          <a:xfrm>
            <a:off x="640080" y="1783080"/>
            <a:ext cx="6492240" cy="420624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500" dirty="0">
                <a:solidFill>
                  <a:srgbClr val="312E81"/>
                </a:solidFill>
                <a:latin typeface="Calibri" pitchFamily="34" charset="0"/>
                <a:ea typeface="Calibri" pitchFamily="34" charset="-122"/>
                <a:cs typeface="Calibri" pitchFamily="34" charset="-120"/>
              </a:rPr>
              <a:t>Training backpropagates through many simulated optimizer steps, including noisy circuits and the QNGD metric tensor — at a scale PennyLane's own noisy simulator (default.mixed) could not support.</a:t>
            </a:r>
            <a:endParaRPr lang="en-US" sz="1500" dirty="0"/>
          </a:p>
          <a:p>
            <a:pPr marL="228600" indent="-228600">
              <a:lnSpc>
                <a:spcPct val="115000"/>
              </a:lnSpc>
              <a:spcAft>
                <a:spcPts val="1200"/>
              </a:spcAft>
              <a:buSzPct val="100000"/>
              <a:buChar char="●"/>
            </a:pPr>
            <a:r>
              <a:rPr lang="en-US" sz="1500" dirty="0">
                <a:solidFill>
                  <a:srgbClr val="312E81"/>
                </a:solidFill>
                <a:latin typeface="Calibri" pitchFamily="34" charset="0"/>
                <a:ea typeface="Calibri" pitchFamily="34" charset="-122"/>
                <a:cs typeface="Calibri" pitchFamily="34" charset="-120"/>
              </a:rPr>
              <a:t>We built a GPU-batched density-matrix simulator in PyTorch: gate application, depolarizing and amplitude-damping noise, and the QNGD metric tensor from closed-form physics — so ordinary PyTorch autograd gives correct gradients through the whole pipeline.</a:t>
            </a:r>
            <a:endParaRPr lang="en-US" sz="1500" dirty="0"/>
          </a:p>
          <a:p>
            <a:pPr marL="228600" indent="-228600">
              <a:lnSpc>
                <a:spcPct val="115000"/>
              </a:lnSpc>
              <a:spcAft>
                <a:spcPts val="1200"/>
              </a:spcAft>
              <a:buSzPct val="100000"/>
              <a:buChar char="●"/>
            </a:pPr>
            <a:r>
              <a:rPr lang="en-US" sz="1500" dirty="0">
                <a:solidFill>
                  <a:srgbClr val="312E81"/>
                </a:solidFill>
                <a:latin typeface="Calibri" pitchFamily="34" charset="0"/>
                <a:ea typeface="Calibri" pitchFamily="34" charset="-122"/>
                <a:cs typeface="Calibri" pitchFamily="34" charset="-120"/>
              </a:rPr>
              <a:t>Validated against PennyLane's default.mixed across energies, full QNGD trajectories, and the training meta-gradient itself.</a:t>
            </a:r>
            <a:endParaRPr lang="en-US" sz="1500" dirty="0"/>
          </a:p>
        </p:txBody>
      </p:sp>
      <p:sp>
        <p:nvSpPr>
          <p:cNvPr id="7" name="Shape 5"/>
          <p:cNvSpPr/>
          <p:nvPr/>
        </p:nvSpPr>
        <p:spPr>
          <a:xfrm>
            <a:off x="7406640" y="1783080"/>
            <a:ext cx="4114800" cy="1737360"/>
          </a:xfrm>
          <a:prstGeom prst="roundRect">
            <a:avLst>
              <a:gd name="adj" fmla="val 5263"/>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8" name="Text 6"/>
          <p:cNvSpPr txBox="1"/>
          <p:nvPr/>
        </p:nvSpPr>
        <p:spPr>
          <a:xfrm>
            <a:off x="7543800" y="1920240"/>
            <a:ext cx="3840480" cy="1051560"/>
          </a:xfrm>
          <a:prstGeom prst="rect">
            <a:avLst/>
          </a:prstGeom>
          <a:noFill/>
          <a:ln/>
        </p:spPr>
        <p:txBody>
          <a:bodyPr wrap="square" lIns="0" tIns="0" rIns="0" bIns="0" rtlCol="0" anchor="b"/>
          <a:lstStyle/>
          <a:p>
            <a:pPr algn="ctr" indent="0" marL="0">
              <a:buNone/>
            </a:pPr>
            <a:r>
              <a:rPr lang="en-US" sz="4000" b="1" dirty="0">
                <a:solidFill>
                  <a:srgbClr val="059669"/>
                </a:solidFill>
                <a:latin typeface="Cambria" pitchFamily="34" charset="0"/>
                <a:ea typeface="Cambria" pitchFamily="34" charset="-122"/>
                <a:cs typeface="Cambria" pitchFamily="34" charset="-120"/>
              </a:rPr>
              <a:t>1e-8</a:t>
            </a:r>
            <a:endParaRPr lang="en-US" sz="4000" dirty="0"/>
          </a:p>
        </p:txBody>
      </p:sp>
      <p:sp>
        <p:nvSpPr>
          <p:cNvPr id="9" name="Text 7"/>
          <p:cNvSpPr txBox="1"/>
          <p:nvPr/>
        </p:nvSpPr>
        <p:spPr>
          <a:xfrm>
            <a:off x="7543800" y="3017520"/>
            <a:ext cx="384048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to 1e-16 agreement with PennyLane, depending on the check — differences traced to known floating-point sensitivity, not a modeling error</a:t>
            </a:r>
            <a:endParaRPr lang="en-US" sz="1150" dirty="0"/>
          </a:p>
        </p:txBody>
      </p:sp>
      <p:sp>
        <p:nvSpPr>
          <p:cNvPr id="10" name="Shape 8"/>
          <p:cNvSpPr/>
          <p:nvPr/>
        </p:nvSpPr>
        <p:spPr>
          <a:xfrm>
            <a:off x="7406640" y="3794760"/>
            <a:ext cx="4114800" cy="2194560"/>
          </a:xfrm>
          <a:prstGeom prst="roundRect">
            <a:avLst>
              <a:gd name="adj" fmla="val 4167"/>
            </a:avLst>
          </a:prstGeom>
          <a:solidFill>
            <a:srgbClr val="EEF2FF"/>
          </a:solidFill>
          <a:ln/>
          <a:effectLst>
            <a:outerShdw sx="100000" sy="100000" kx="0" ky="0" algn="bl" rotWithShape="0" blurRad="127000" dist="38100" dir="5400000">
              <a:srgbClr val="312E81">
                <a:alpha val="18000"/>
              </a:srgbClr>
            </a:outerShdw>
          </a:effectLst>
        </p:spPr>
      </p:sp>
      <p:sp>
        <p:nvSpPr>
          <p:cNvPr id="11" name="Text 9"/>
          <p:cNvSpPr txBox="1"/>
          <p:nvPr/>
        </p:nvSpPr>
        <p:spPr>
          <a:xfrm>
            <a:off x="7607808" y="3977640"/>
            <a:ext cx="3712464" cy="36576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Why it had to be custom</a:t>
            </a:r>
            <a:endParaRPr lang="en-US" sz="1500" dirty="0"/>
          </a:p>
        </p:txBody>
      </p:sp>
      <p:sp>
        <p:nvSpPr>
          <p:cNvPr id="12" name="Text 10"/>
          <p:cNvSpPr txBox="1"/>
          <p:nvPr/>
        </p:nvSpPr>
        <p:spPr>
          <a:xfrm>
            <a:off x="7607808" y="4361688"/>
            <a:ext cx="3712464" cy="1444752"/>
          </a:xfrm>
          <a:prstGeom prst="rect">
            <a:avLst/>
          </a:prstGeom>
          <a:noFill/>
          <a:ln/>
        </p:spPr>
        <p:txBody>
          <a:bodyPr wrap="square" lIns="0" tIns="0" rIns="0" bIns="0" rtlCol="0" anchor="t"/>
          <a:lstStyle/>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default.mixed profiled as the dominant training-time cost</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Not built for batched GPU training</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Needed exact 2nd-order gradients for unrolled training</a:t>
            </a:r>
            <a:endParaRPr lang="en-US" sz="12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640080" y="274320"/>
            <a:ext cx="292608" cy="292608"/>
          </a:xfrm>
          <a:prstGeom prst="ellipse">
            <a:avLst/>
          </a:prstGeom>
          <a:solidFill>
            <a:srgbClr val="4F46E5"/>
          </a:solidFill>
          <a:ln/>
        </p:spPr>
      </p:sp>
      <p:sp>
        <p:nvSpPr>
          <p:cNvPr id="3" name="Text 1"/>
          <p:cNvSpPr txBox="1"/>
          <p:nvPr/>
        </p:nvSpPr>
        <p:spPr>
          <a:xfrm>
            <a:off x="640080" y="274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4"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MODEL</a:t>
            </a:r>
            <a:endParaRPr lang="en-US" sz="1200" dirty="0"/>
          </a:p>
        </p:txBody>
      </p:sp>
      <p:sp>
        <p:nvSpPr>
          <p:cNvPr id="5"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The GNN initializer</a:t>
            </a:r>
            <a:endParaRPr lang="en-US" sz="2900" dirty="0"/>
          </a:p>
        </p:txBody>
      </p:sp>
      <p:sp>
        <p:nvSpPr>
          <p:cNvPr id="6" name="Shape 4"/>
          <p:cNvSpPr/>
          <p:nvPr/>
        </p:nvSpPr>
        <p:spPr>
          <a:xfrm>
            <a:off x="640080" y="2834640"/>
            <a:ext cx="2286000" cy="1188720"/>
          </a:xfrm>
          <a:prstGeom prst="roundRect">
            <a:avLst>
              <a:gd name="adj" fmla="val 6923"/>
            </a:avLst>
          </a:prstGeom>
          <a:solidFill>
            <a:srgbClr val="EEF2FF"/>
          </a:solidFill>
          <a:ln/>
          <a:effectLst>
            <a:outerShdw sx="100000" sy="100000" kx="0" ky="0" algn="bl" rotWithShape="0" blurRad="127000" dist="38100" dir="5400000">
              <a:srgbClr val="312E81">
                <a:alpha val="18000"/>
              </a:srgbClr>
            </a:outerShdw>
          </a:effectLst>
        </p:spPr>
      </p:sp>
      <p:sp>
        <p:nvSpPr>
          <p:cNvPr id="7" name="Text 5"/>
          <p:cNvSpPr txBox="1"/>
          <p:nvPr/>
        </p:nvSpPr>
        <p:spPr>
          <a:xfrm>
            <a:off x="777240" y="2999232"/>
            <a:ext cx="2011680" cy="548640"/>
          </a:xfrm>
          <a:prstGeom prst="rect">
            <a:avLst/>
          </a:prstGeom>
          <a:noFill/>
          <a:ln/>
        </p:spPr>
        <p:txBody>
          <a:bodyPr wrap="square" lIns="0" tIns="0" rIns="0" bIns="0" rtlCol="0" anchor="ctr"/>
          <a:lstStyle/>
          <a:p>
            <a:pPr algn="ctr" indent="0" marL="0">
              <a:buNone/>
            </a:pPr>
            <a:r>
              <a:rPr lang="en-US" sz="1350" b="1" dirty="0">
                <a:solidFill>
                  <a:srgbClr val="312E81"/>
                </a:solidFill>
                <a:latin typeface="Calibri" pitchFamily="34" charset="0"/>
                <a:ea typeface="Calibri" pitchFamily="34" charset="-122"/>
                <a:cs typeface="Calibri" pitchFamily="34" charset="-120"/>
              </a:rPr>
              <a:t>3× GAT encoders</a:t>
            </a:r>
            <a:endParaRPr lang="en-US" sz="1350" dirty="0"/>
          </a:p>
        </p:txBody>
      </p:sp>
      <p:sp>
        <p:nvSpPr>
          <p:cNvPr id="8" name="Text 6"/>
          <p:cNvSpPr txBox="1"/>
          <p:nvPr/>
        </p:nvSpPr>
        <p:spPr>
          <a:xfrm>
            <a:off x="777240" y="3493008"/>
            <a:ext cx="2011680" cy="45720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one per graph, 64-dim, residual</a:t>
            </a:r>
            <a:endParaRPr lang="en-US" sz="1050" dirty="0"/>
          </a:p>
        </p:txBody>
      </p:sp>
      <p:sp>
        <p:nvSpPr>
          <p:cNvPr id="9" name="Shape 7"/>
          <p:cNvSpPr/>
          <p:nvPr/>
        </p:nvSpPr>
        <p:spPr>
          <a:xfrm>
            <a:off x="2926080" y="3429000"/>
            <a:ext cx="320040" cy="914"/>
          </a:xfrm>
          <a:prstGeom prst="line">
            <a:avLst/>
          </a:prstGeom>
          <a:noFill/>
          <a:ln w="19050">
            <a:solidFill>
              <a:srgbClr val="64748B"/>
            </a:solidFill>
            <a:prstDash val="solid"/>
            <a:tailEnd type="triangle"/>
          </a:ln>
        </p:spPr>
      </p:sp>
      <p:sp>
        <p:nvSpPr>
          <p:cNvPr id="10" name="Shape 8"/>
          <p:cNvSpPr/>
          <p:nvPr/>
        </p:nvSpPr>
        <p:spPr>
          <a:xfrm>
            <a:off x="3246120" y="2834640"/>
            <a:ext cx="2514600" cy="1188720"/>
          </a:xfrm>
          <a:prstGeom prst="roundRect">
            <a:avLst>
              <a:gd name="adj" fmla="val 6923"/>
            </a:avLst>
          </a:prstGeom>
          <a:solidFill>
            <a:srgbClr val="EEF2FF"/>
          </a:solidFill>
          <a:ln/>
          <a:effectLst>
            <a:outerShdw sx="100000" sy="100000" kx="0" ky="0" algn="bl" rotWithShape="0" blurRad="127000" dist="38100" dir="5400000">
              <a:srgbClr val="312E81">
                <a:alpha val="18000"/>
              </a:srgbClr>
            </a:outerShdw>
          </a:effectLst>
        </p:spPr>
      </p:sp>
      <p:sp>
        <p:nvSpPr>
          <p:cNvPr id="11" name="Text 9"/>
          <p:cNvSpPr txBox="1"/>
          <p:nvPr/>
        </p:nvSpPr>
        <p:spPr>
          <a:xfrm>
            <a:off x="3383280" y="2999232"/>
            <a:ext cx="2240280" cy="548640"/>
          </a:xfrm>
          <a:prstGeom prst="rect">
            <a:avLst/>
          </a:prstGeom>
          <a:noFill/>
          <a:ln/>
        </p:spPr>
        <p:txBody>
          <a:bodyPr wrap="square" lIns="0" tIns="0" rIns="0" bIns="0" rtlCol="0" anchor="ctr"/>
          <a:lstStyle/>
          <a:p>
            <a:pPr algn="ctr" indent="0" marL="0">
              <a:buNone/>
            </a:pPr>
            <a:r>
              <a:rPr lang="en-US" sz="1350" b="1" dirty="0">
                <a:solidFill>
                  <a:srgbClr val="312E81"/>
                </a:solidFill>
                <a:latin typeface="Calibri" pitchFamily="34" charset="0"/>
                <a:ea typeface="Calibri" pitchFamily="34" charset="-122"/>
                <a:cs typeface="Calibri" pitchFamily="34" charset="-120"/>
              </a:rPr>
              <a:t>Cross-attention fusion</a:t>
            </a:r>
            <a:endParaRPr lang="en-US" sz="1350" dirty="0"/>
          </a:p>
        </p:txBody>
      </p:sp>
      <p:sp>
        <p:nvSpPr>
          <p:cNvPr id="12" name="Text 10"/>
          <p:cNvSpPr txBox="1"/>
          <p:nvPr/>
        </p:nvSpPr>
        <p:spPr>
          <a:xfrm>
            <a:off x="3383280" y="3493008"/>
            <a:ext cx="2240280" cy="45720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ansatz → Hamiltonian, then → hardware</a:t>
            </a:r>
            <a:endParaRPr lang="en-US" sz="1050" dirty="0"/>
          </a:p>
        </p:txBody>
      </p:sp>
      <p:sp>
        <p:nvSpPr>
          <p:cNvPr id="13" name="Shape 11"/>
          <p:cNvSpPr/>
          <p:nvPr/>
        </p:nvSpPr>
        <p:spPr>
          <a:xfrm>
            <a:off x="5760720" y="3429000"/>
            <a:ext cx="320040" cy="914"/>
          </a:xfrm>
          <a:prstGeom prst="line">
            <a:avLst/>
          </a:prstGeom>
          <a:noFill/>
          <a:ln w="19050">
            <a:solidFill>
              <a:srgbClr val="64748B"/>
            </a:solidFill>
            <a:prstDash val="solid"/>
            <a:tailEnd type="triangle"/>
          </a:ln>
        </p:spPr>
      </p:sp>
      <p:sp>
        <p:nvSpPr>
          <p:cNvPr id="14" name="Shape 12"/>
          <p:cNvSpPr/>
          <p:nvPr/>
        </p:nvSpPr>
        <p:spPr>
          <a:xfrm>
            <a:off x="6080760" y="2834640"/>
            <a:ext cx="2286000" cy="1188720"/>
          </a:xfrm>
          <a:prstGeom prst="roundRect">
            <a:avLst>
              <a:gd name="adj" fmla="val 6923"/>
            </a:avLst>
          </a:prstGeom>
          <a:solidFill>
            <a:srgbClr val="EEF2FF"/>
          </a:solidFill>
          <a:ln/>
          <a:effectLst>
            <a:outerShdw sx="100000" sy="100000" kx="0" ky="0" algn="bl" rotWithShape="0" blurRad="127000" dist="38100" dir="5400000">
              <a:srgbClr val="312E81">
                <a:alpha val="18000"/>
              </a:srgbClr>
            </a:outerShdw>
          </a:effectLst>
        </p:spPr>
      </p:sp>
      <p:sp>
        <p:nvSpPr>
          <p:cNvPr id="15" name="Text 13"/>
          <p:cNvSpPr txBox="1"/>
          <p:nvPr/>
        </p:nvSpPr>
        <p:spPr>
          <a:xfrm>
            <a:off x="6217920" y="2999232"/>
            <a:ext cx="2011680" cy="548640"/>
          </a:xfrm>
          <a:prstGeom prst="rect">
            <a:avLst/>
          </a:prstGeom>
          <a:noFill/>
          <a:ln/>
        </p:spPr>
        <p:txBody>
          <a:bodyPr wrap="square" lIns="0" tIns="0" rIns="0" bIns="0" rtlCol="0" anchor="ctr"/>
          <a:lstStyle/>
          <a:p>
            <a:pPr algn="ctr" indent="0" marL="0">
              <a:buNone/>
            </a:pPr>
            <a:r>
              <a:rPr lang="en-US" sz="1350" b="1" dirty="0">
                <a:solidFill>
                  <a:srgbClr val="312E81"/>
                </a:solidFill>
                <a:latin typeface="Calibri" pitchFamily="34" charset="0"/>
                <a:ea typeface="Calibri" pitchFamily="34" charset="-122"/>
                <a:cs typeface="Calibri" pitchFamily="34" charset="-120"/>
              </a:rPr>
              <a:t>Layer-wise decoder</a:t>
            </a:r>
            <a:endParaRPr lang="en-US" sz="1350" dirty="0"/>
          </a:p>
        </p:txBody>
      </p:sp>
      <p:sp>
        <p:nvSpPr>
          <p:cNvPr id="16" name="Text 14"/>
          <p:cNvSpPr txBox="1"/>
          <p:nvPr/>
        </p:nvSpPr>
        <p:spPr>
          <a:xfrm>
            <a:off x="6217920" y="3493008"/>
            <a:ext cx="2011680" cy="457200"/>
          </a:xfrm>
          <a:prstGeom prst="rect">
            <a:avLst/>
          </a:prstGeom>
          <a:noFill/>
          <a:ln/>
        </p:spPr>
        <p:txBody>
          <a:bodyPr wrap="square" lIns="0" tIns="0" rIns="0" bIns="0" rtlCol="0" anchor="ctr"/>
          <a:lstStyle/>
          <a:p>
            <a:pPr algn="ctr" indent="0" marL="0">
              <a:buNone/>
            </a:pPr>
            <a:r>
              <a:rPr lang="en-US" sz="1050" dirty="0">
                <a:solidFill>
                  <a:srgbClr val="64748B"/>
                </a:solidFill>
                <a:latin typeface="Calibri" pitchFamily="34" charset="0"/>
                <a:ea typeface="Calibri" pitchFamily="34" charset="-122"/>
                <a:cs typeface="Calibri" pitchFamily="34" charset="-120"/>
              </a:rPr>
              <a:t>per gate-slot rotation angles</a:t>
            </a:r>
            <a:endParaRPr lang="en-US" sz="1050" dirty="0"/>
          </a:p>
        </p:txBody>
      </p:sp>
      <p:sp>
        <p:nvSpPr>
          <p:cNvPr id="17" name="Shape 15"/>
          <p:cNvSpPr/>
          <p:nvPr/>
        </p:nvSpPr>
        <p:spPr>
          <a:xfrm>
            <a:off x="8366760" y="3429000"/>
            <a:ext cx="320040" cy="914"/>
          </a:xfrm>
          <a:prstGeom prst="line">
            <a:avLst/>
          </a:prstGeom>
          <a:noFill/>
          <a:ln w="19050">
            <a:solidFill>
              <a:srgbClr val="64748B"/>
            </a:solidFill>
            <a:prstDash val="solid"/>
            <a:tailEnd type="triangle"/>
          </a:ln>
        </p:spPr>
      </p:sp>
      <p:sp>
        <p:nvSpPr>
          <p:cNvPr id="18" name="Shape 16"/>
          <p:cNvSpPr/>
          <p:nvPr/>
        </p:nvSpPr>
        <p:spPr>
          <a:xfrm>
            <a:off x="8686800" y="2834640"/>
            <a:ext cx="2377440" cy="1188720"/>
          </a:xfrm>
          <a:prstGeom prst="roundRect">
            <a:avLst>
              <a:gd name="adj" fmla="val 6923"/>
            </a:avLst>
          </a:prstGeom>
          <a:solidFill>
            <a:srgbClr val="4F46E5"/>
          </a:solidFill>
          <a:ln/>
          <a:effectLst>
            <a:outerShdw sx="100000" sy="100000" kx="0" ky="0" algn="bl" rotWithShape="0" blurRad="127000" dist="38100" dir="5400000">
              <a:srgbClr val="312E81">
                <a:alpha val="18000"/>
              </a:srgbClr>
            </a:outerShdw>
          </a:effectLst>
        </p:spPr>
      </p:sp>
      <p:sp>
        <p:nvSpPr>
          <p:cNvPr id="19" name="Text 17"/>
          <p:cNvSpPr txBox="1"/>
          <p:nvPr/>
        </p:nvSpPr>
        <p:spPr>
          <a:xfrm>
            <a:off x="8823960" y="2999232"/>
            <a:ext cx="2103120" cy="548640"/>
          </a:xfrm>
          <a:prstGeom prst="rect">
            <a:avLst/>
          </a:prstGeom>
          <a:noFill/>
          <a:ln/>
        </p:spPr>
        <p:txBody>
          <a:bodyPr wrap="square" lIns="0" tIns="0" rIns="0" bIns="0" rtlCol="0" anchor="ctr"/>
          <a:lstStyle/>
          <a:p>
            <a:pPr algn="ctr" indent="0" marL="0">
              <a:buNone/>
            </a:pPr>
            <a:r>
              <a:rPr lang="en-US" sz="1350" b="1" dirty="0">
                <a:solidFill>
                  <a:srgbClr val="000000"/>
                </a:solidFill>
                <a:latin typeface="Calibri" pitchFamily="34" charset="0"/>
                <a:ea typeface="Calibri" pitchFamily="34" charset="-122"/>
                <a:cs typeface="Calibri" pitchFamily="34" charset="-120"/>
              </a:rPr>
              <a:t>θ₀ ∈ ℝ^(2n×2)</a:t>
            </a:r>
            <a:endParaRPr lang="en-US" sz="1350" dirty="0"/>
          </a:p>
        </p:txBody>
      </p:sp>
      <p:sp>
        <p:nvSpPr>
          <p:cNvPr id="20" name="Text 18"/>
          <p:cNvSpPr txBox="1"/>
          <p:nvPr/>
        </p:nvSpPr>
        <p:spPr>
          <a:xfrm>
            <a:off x="8823960" y="3493008"/>
            <a:ext cx="2103120" cy="457200"/>
          </a:xfrm>
          <a:prstGeom prst="rect">
            <a:avLst/>
          </a:prstGeom>
          <a:noFill/>
          <a:ln/>
        </p:spPr>
        <p:txBody>
          <a:bodyPr wrap="square" lIns="0" tIns="0" rIns="0" bIns="0" rtlCol="0" anchor="ctr"/>
          <a:lstStyle/>
          <a:p>
            <a:pPr algn="ctr" indent="0" marL="0">
              <a:buNone/>
            </a:pPr>
            <a:r>
              <a:rPr lang="en-US" sz="1050" dirty="0">
                <a:solidFill>
                  <a:srgbClr val="000000"/>
                </a:solidFill>
                <a:latin typeface="Calibri" pitchFamily="34" charset="0"/>
                <a:ea typeface="Calibri" pitchFamily="34" charset="-122"/>
                <a:cs typeface="Calibri" pitchFamily="34" charset="-120"/>
              </a:rPr>
              <a:t>the predicted starting point</a:t>
            </a:r>
            <a:endParaRPr lang="en-US" sz="1050" dirty="0"/>
          </a:p>
        </p:txBody>
      </p:sp>
      <p:sp>
        <p:nvSpPr>
          <p:cNvPr id="21" name="Text 19"/>
          <p:cNvSpPr txBox="1"/>
          <p:nvPr/>
        </p:nvSpPr>
        <p:spPr>
          <a:xfrm>
            <a:off x="640080" y="4343400"/>
            <a:ext cx="10908792" cy="457200"/>
          </a:xfrm>
          <a:prstGeom prst="rect">
            <a:avLst/>
          </a:prstGeom>
          <a:noFill/>
          <a:ln/>
        </p:spPr>
        <p:txBody>
          <a:bodyPr wrap="square" lIns="0" tIns="0" rIns="0" bIns="0" rtlCol="0" anchor="ctr"/>
          <a:lstStyle/>
          <a:p>
            <a:pPr indent="0" marL="0">
              <a:buNone/>
            </a:pPr>
            <a:r>
              <a:rPr lang="en-US" sz="1300" i="1" dirty="0">
                <a:solidFill>
                  <a:srgbClr val="64748B"/>
                </a:solidFill>
                <a:latin typeface="Calibri" pitchFamily="34" charset="0"/>
                <a:ea typeface="Calibri" pitchFamily="34" charset="-122"/>
                <a:cs typeface="Calibri" pitchFamily="34" charset="-120"/>
              </a:rPr>
              <a:t>Noise is injected inside fusion itself, not appended as an extra feature. A switch removes the hardware branch entirely for noise-unaware ablations.</a:t>
            </a:r>
            <a:endParaRPr lang="en-US" sz="1300" dirty="0"/>
          </a:p>
        </p:txBody>
      </p:sp>
      <p:sp>
        <p:nvSpPr>
          <p:cNvPr id="22" name="Shape 20"/>
          <p:cNvSpPr/>
          <p:nvPr/>
        </p:nvSpPr>
        <p:spPr>
          <a:xfrm>
            <a:off x="640080" y="4983480"/>
            <a:ext cx="3383280" cy="1280160"/>
          </a:xfrm>
          <a:prstGeom prst="roundRect">
            <a:avLst>
              <a:gd name="adj" fmla="val 7143"/>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23" name="Text 21"/>
          <p:cNvSpPr txBox="1"/>
          <p:nvPr/>
        </p:nvSpPr>
        <p:spPr>
          <a:xfrm>
            <a:off x="777240" y="5120640"/>
            <a:ext cx="3108960" cy="594360"/>
          </a:xfrm>
          <a:prstGeom prst="rect">
            <a:avLst/>
          </a:prstGeom>
          <a:noFill/>
          <a:ln/>
        </p:spPr>
        <p:txBody>
          <a:bodyPr wrap="square" lIns="0" tIns="0" rIns="0" bIns="0" rtlCol="0" anchor="b"/>
          <a:lstStyle/>
          <a:p>
            <a:pPr algn="ctr" indent="0" marL="0">
              <a:buNone/>
            </a:pPr>
            <a:r>
              <a:rPr lang="en-US" sz="2600" b="1" dirty="0">
                <a:solidFill>
                  <a:srgbClr val="7C3AED"/>
                </a:solidFill>
                <a:latin typeface="Cambria" pitchFamily="34" charset="0"/>
                <a:ea typeface="Cambria" pitchFamily="34" charset="-122"/>
                <a:cs typeface="Cambria" pitchFamily="34" charset="-120"/>
              </a:rPr>
              <a:t>70,850</a:t>
            </a:r>
            <a:endParaRPr lang="en-US" sz="2600" dirty="0"/>
          </a:p>
        </p:txBody>
      </p:sp>
      <p:sp>
        <p:nvSpPr>
          <p:cNvPr id="24" name="Text 22"/>
          <p:cNvSpPr txBox="1"/>
          <p:nvPr/>
        </p:nvSpPr>
        <p:spPr>
          <a:xfrm>
            <a:off x="777240" y="5760720"/>
            <a:ext cx="310896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parameters — hardware branch removed</a:t>
            </a:r>
            <a:endParaRPr lang="en-US" sz="1150" dirty="0"/>
          </a:p>
        </p:txBody>
      </p:sp>
      <p:sp>
        <p:nvSpPr>
          <p:cNvPr id="25" name="Shape 23"/>
          <p:cNvSpPr/>
          <p:nvPr/>
        </p:nvSpPr>
        <p:spPr>
          <a:xfrm>
            <a:off x="4206240" y="4983480"/>
            <a:ext cx="3383280" cy="1280160"/>
          </a:xfrm>
          <a:prstGeom prst="roundRect">
            <a:avLst>
              <a:gd name="adj" fmla="val 7143"/>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26" name="Text 24"/>
          <p:cNvSpPr txBox="1"/>
          <p:nvPr/>
        </p:nvSpPr>
        <p:spPr>
          <a:xfrm>
            <a:off x="4343400" y="5120640"/>
            <a:ext cx="3108960" cy="594360"/>
          </a:xfrm>
          <a:prstGeom prst="rect">
            <a:avLst/>
          </a:prstGeom>
          <a:noFill/>
          <a:ln/>
        </p:spPr>
        <p:txBody>
          <a:bodyPr wrap="square" lIns="0" tIns="0" rIns="0" bIns="0" rtlCol="0" anchor="b"/>
          <a:lstStyle/>
          <a:p>
            <a:pPr algn="ctr" indent="0" marL="0">
              <a:buNone/>
            </a:pPr>
            <a:r>
              <a:rPr lang="en-US" sz="2600" b="1" dirty="0">
                <a:solidFill>
                  <a:srgbClr val="4F46E5"/>
                </a:solidFill>
                <a:latin typeface="Cambria" pitchFamily="34" charset="0"/>
                <a:ea typeface="Cambria" pitchFamily="34" charset="-122"/>
                <a:cs typeface="Cambria" pitchFamily="34" charset="-120"/>
              </a:rPr>
              <a:t>84,738</a:t>
            </a:r>
            <a:endParaRPr lang="en-US" sz="2600" dirty="0"/>
          </a:p>
        </p:txBody>
      </p:sp>
      <p:sp>
        <p:nvSpPr>
          <p:cNvPr id="27" name="Text 25"/>
          <p:cNvSpPr txBox="1"/>
          <p:nvPr/>
        </p:nvSpPr>
        <p:spPr>
          <a:xfrm>
            <a:off x="4343400" y="5760720"/>
            <a:ext cx="310896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parameters — with hardware branch</a:t>
            </a:r>
            <a:endParaRPr lang="en-US" sz="1150" dirty="0"/>
          </a:p>
        </p:txBody>
      </p:sp>
      <p:sp>
        <p:nvSpPr>
          <p:cNvPr id="28" name="Shape 26"/>
          <p:cNvSpPr/>
          <p:nvPr/>
        </p:nvSpPr>
        <p:spPr>
          <a:xfrm>
            <a:off x="7772400" y="4983480"/>
            <a:ext cx="3776472" cy="1280160"/>
          </a:xfrm>
          <a:prstGeom prst="roundRect">
            <a:avLst>
              <a:gd name="adj" fmla="val 7143"/>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29" name="Text 27"/>
          <p:cNvSpPr txBox="1"/>
          <p:nvPr/>
        </p:nvSpPr>
        <p:spPr>
          <a:xfrm>
            <a:off x="7909560" y="5120640"/>
            <a:ext cx="3502152" cy="594360"/>
          </a:xfrm>
          <a:prstGeom prst="rect">
            <a:avLst/>
          </a:prstGeom>
          <a:noFill/>
          <a:ln/>
        </p:spPr>
        <p:txBody>
          <a:bodyPr wrap="square" lIns="0" tIns="0" rIns="0" bIns="0" rtlCol="0" anchor="b"/>
          <a:lstStyle/>
          <a:p>
            <a:pPr algn="ctr" indent="0" marL="0">
              <a:buNone/>
            </a:pPr>
            <a:r>
              <a:rPr lang="en-US" sz="2600" b="1" dirty="0">
                <a:solidFill>
                  <a:srgbClr val="D97706"/>
                </a:solidFill>
                <a:latin typeface="Cambria" pitchFamily="34" charset="0"/>
                <a:ea typeface="Cambria" pitchFamily="34" charset="-122"/>
                <a:cs typeface="Cambria" pitchFamily="34" charset="-120"/>
              </a:rPr>
              <a:t>2</a:t>
            </a:r>
            <a:endParaRPr lang="en-US" sz="2600" dirty="0"/>
          </a:p>
        </p:txBody>
      </p:sp>
      <p:sp>
        <p:nvSpPr>
          <p:cNvPr id="30" name="Text 28"/>
          <p:cNvSpPr txBox="1"/>
          <p:nvPr/>
        </p:nvSpPr>
        <p:spPr>
          <a:xfrm>
            <a:off x="7909560" y="5760720"/>
            <a:ext cx="3502152"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cross-attention stages: ansatz→Hamiltonian, then →hardware/noise</a:t>
            </a:r>
            <a:endParaRPr lang="en-US" sz="11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640080" y="274320"/>
            <a:ext cx="292608" cy="292608"/>
          </a:xfrm>
          <a:prstGeom prst="ellipse">
            <a:avLst/>
          </a:prstGeom>
          <a:solidFill>
            <a:srgbClr val="4F46E5"/>
          </a:solidFill>
          <a:ln/>
        </p:spPr>
      </p:sp>
      <p:sp>
        <p:nvSpPr>
          <p:cNvPr id="3" name="Text 1"/>
          <p:cNvSpPr txBox="1"/>
          <p:nvPr/>
        </p:nvSpPr>
        <p:spPr>
          <a:xfrm>
            <a:off x="640080" y="274320"/>
            <a:ext cx="292608" cy="29260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4"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TRAINING</a:t>
            </a:r>
            <a:endParaRPr lang="en-US" sz="1200" dirty="0"/>
          </a:p>
        </p:txBody>
      </p:sp>
      <p:sp>
        <p:nvSpPr>
          <p:cNvPr id="5"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Label-free training: 3 objectives tried, 5 variants trained</a:t>
            </a:r>
            <a:endParaRPr lang="en-US" sz="2900" dirty="0"/>
          </a:p>
        </p:txBody>
      </p:sp>
      <p:sp>
        <p:nvSpPr>
          <p:cNvPr id="6" name="Shape 4"/>
          <p:cNvSpPr/>
          <p:nvPr/>
        </p:nvSpPr>
        <p:spPr>
          <a:xfrm>
            <a:off x="640080" y="1783080"/>
            <a:ext cx="3520440" cy="1691640"/>
          </a:xfrm>
          <a:prstGeom prst="roundRect">
            <a:avLst>
              <a:gd name="adj" fmla="val 4865"/>
            </a:avLst>
          </a:prstGeom>
          <a:solidFill>
            <a:srgbClr val="EEF2FF"/>
          </a:solidFill>
          <a:ln/>
        </p:spPr>
      </p:sp>
      <p:sp>
        <p:nvSpPr>
          <p:cNvPr id="7" name="Text 5"/>
          <p:cNvSpPr txBox="1"/>
          <p:nvPr/>
        </p:nvSpPr>
        <p:spPr>
          <a:xfrm>
            <a:off x="804672" y="1920240"/>
            <a:ext cx="3191256" cy="502920"/>
          </a:xfrm>
          <a:prstGeom prst="rect">
            <a:avLst/>
          </a:prstGeom>
          <a:noFill/>
          <a:ln/>
        </p:spPr>
        <p:txBody>
          <a:bodyPr wrap="square" lIns="0" tIns="0" rIns="0" bIns="0" rtlCol="0" anchor="ctr"/>
          <a:lstStyle/>
          <a:p>
            <a:pPr indent="0" marL="0">
              <a:buNone/>
            </a:pPr>
            <a:r>
              <a:rPr lang="en-US" sz="1250" b="1" dirty="0">
                <a:solidFill>
                  <a:srgbClr val="312E81"/>
                </a:solidFill>
                <a:latin typeface="Calibri" pitchFamily="34" charset="0"/>
                <a:ea typeface="Calibri" pitchFamily="34" charset="-122"/>
                <a:cs typeface="Calibri" pitchFamily="34" charset="-120"/>
              </a:rPr>
              <a:t>(a) Minimize E(θ₀) directly</a:t>
            </a:r>
            <a:endParaRPr lang="en-US" sz="1250" dirty="0"/>
          </a:p>
        </p:txBody>
      </p:sp>
      <p:sp>
        <p:nvSpPr>
          <p:cNvPr id="8" name="Text 6"/>
          <p:cNvSpPr txBox="1"/>
          <p:nvPr/>
        </p:nvSpPr>
        <p:spPr>
          <a:xfrm>
            <a:off x="804672" y="2423160"/>
            <a:ext cx="3191256" cy="274320"/>
          </a:xfrm>
          <a:prstGeom prst="rect">
            <a:avLst/>
          </a:prstGeom>
          <a:noFill/>
          <a:ln/>
        </p:spPr>
        <p:txBody>
          <a:bodyPr wrap="square" lIns="0" tIns="0" rIns="0" bIns="0" rtlCol="0" anchor="ctr"/>
          <a:lstStyle/>
          <a:p>
            <a:pPr indent="0" marL="0">
              <a:buNone/>
            </a:pPr>
            <a:r>
              <a:rPr lang="en-US" sz="1100" b="1" dirty="0">
                <a:solidFill>
                  <a:srgbClr val="DC2626"/>
                </a:solidFill>
                <a:latin typeface="Calibri" pitchFamily="34" charset="0"/>
                <a:ea typeface="Calibri" pitchFamily="34" charset="-122"/>
                <a:cs typeface="Calibri" pitchFamily="34" charset="-120"/>
              </a:rPr>
              <a:t>Rejected</a:t>
            </a:r>
            <a:endParaRPr lang="en-US" sz="1100" dirty="0"/>
          </a:p>
        </p:txBody>
      </p:sp>
      <p:sp>
        <p:nvSpPr>
          <p:cNvPr id="9" name="Text 7"/>
          <p:cNvSpPr txBox="1"/>
          <p:nvPr/>
        </p:nvSpPr>
        <p:spPr>
          <a:xfrm>
            <a:off x="804672" y="2697480"/>
            <a:ext cx="3191256" cy="73152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Produces low-energy starts in flat gradient regions — converges slower than random once actually optimized.</a:t>
            </a:r>
            <a:endParaRPr lang="en-US" sz="1050" dirty="0"/>
          </a:p>
        </p:txBody>
      </p:sp>
      <p:sp>
        <p:nvSpPr>
          <p:cNvPr id="10" name="Shape 8"/>
          <p:cNvSpPr/>
          <p:nvPr/>
        </p:nvSpPr>
        <p:spPr>
          <a:xfrm>
            <a:off x="4343400" y="1783080"/>
            <a:ext cx="3520440" cy="1691640"/>
          </a:xfrm>
          <a:prstGeom prst="roundRect">
            <a:avLst>
              <a:gd name="adj" fmla="val 4865"/>
            </a:avLst>
          </a:prstGeom>
          <a:solidFill>
            <a:srgbClr val="EEF2FF"/>
          </a:solidFill>
          <a:ln/>
        </p:spPr>
      </p:sp>
      <p:sp>
        <p:nvSpPr>
          <p:cNvPr id="11" name="Text 9"/>
          <p:cNvSpPr txBox="1"/>
          <p:nvPr/>
        </p:nvSpPr>
        <p:spPr>
          <a:xfrm>
            <a:off x="4507992" y="1920240"/>
            <a:ext cx="3191256" cy="502920"/>
          </a:xfrm>
          <a:prstGeom prst="rect">
            <a:avLst/>
          </a:prstGeom>
          <a:noFill/>
          <a:ln/>
        </p:spPr>
        <p:txBody>
          <a:bodyPr wrap="square" lIns="0" tIns="0" rIns="0" bIns="0" rtlCol="0" anchor="ctr"/>
          <a:lstStyle/>
          <a:p>
            <a:pPr indent="0" marL="0">
              <a:buNone/>
            </a:pPr>
            <a:r>
              <a:rPr lang="en-US" sz="1250" b="1" dirty="0">
                <a:solidFill>
                  <a:srgbClr val="312E81"/>
                </a:solidFill>
                <a:latin typeface="Calibri" pitchFamily="34" charset="0"/>
                <a:ea typeface="Calibri" pitchFamily="34" charset="-122"/>
                <a:cs typeface="Calibri" pitchFamily="34" charset="-120"/>
              </a:rPr>
              <a:t>(b) Unroll K=3 optimizer steps,</a:t>
            </a:r>
            <a:endParaRPr lang="en-US" sz="1250" dirty="0"/>
          </a:p>
          <a:p>
            <a:pPr indent="0" marL="0">
              <a:buNone/>
            </a:pPr>
            <a:r>
              <a:rPr lang="en-US" sz="1250" b="1" dirty="0">
                <a:solidFill>
                  <a:srgbClr val="312E81"/>
                </a:solidFill>
                <a:latin typeface="Calibri" pitchFamily="34" charset="0"/>
                <a:ea typeface="Calibri" pitchFamily="34" charset="-122"/>
                <a:cs typeface="Calibri" pitchFamily="34" charset="-120"/>
              </a:rPr>
              <a:t>minimize E(θ₃)</a:t>
            </a:r>
            <a:endParaRPr lang="en-US" sz="1250" dirty="0"/>
          </a:p>
        </p:txBody>
      </p:sp>
      <p:sp>
        <p:nvSpPr>
          <p:cNvPr id="12" name="Text 10"/>
          <p:cNvSpPr txBox="1"/>
          <p:nvPr/>
        </p:nvSpPr>
        <p:spPr>
          <a:xfrm>
            <a:off x="4507992" y="2423160"/>
            <a:ext cx="3191256" cy="274320"/>
          </a:xfrm>
          <a:prstGeom prst="rect">
            <a:avLst/>
          </a:prstGeom>
          <a:noFill/>
          <a:ln/>
        </p:spPr>
        <p:txBody>
          <a:bodyPr wrap="square" lIns="0" tIns="0" rIns="0" bIns="0" rtlCol="0" anchor="ctr"/>
          <a:lstStyle/>
          <a:p>
            <a:pPr indent="0" marL="0">
              <a:buNone/>
            </a:pPr>
            <a:r>
              <a:rPr lang="en-US" sz="1100" b="1" dirty="0">
                <a:solidFill>
                  <a:srgbClr val="059669"/>
                </a:solidFill>
                <a:latin typeface="Calibri" pitchFamily="34" charset="0"/>
                <a:ea typeface="Calibri" pitchFamily="34" charset="-122"/>
                <a:cs typeface="Calibri" pitchFamily="34" charset="-120"/>
              </a:rPr>
              <a:t>Used for all 5 variants</a:t>
            </a:r>
            <a:endParaRPr lang="en-US" sz="1100" dirty="0"/>
          </a:p>
        </p:txBody>
      </p:sp>
      <p:sp>
        <p:nvSpPr>
          <p:cNvPr id="13" name="Text 11"/>
          <p:cNvSpPr txBox="1"/>
          <p:nvPr/>
        </p:nvSpPr>
        <p:spPr>
          <a:xfrm>
            <a:off x="4507992" y="2697480"/>
            <a:ext cx="3191256" cy="73152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Judges the start by where the optimizer actually gets to, not where it begins.</a:t>
            </a:r>
            <a:endParaRPr lang="en-US" sz="1050" dirty="0"/>
          </a:p>
        </p:txBody>
      </p:sp>
      <p:sp>
        <p:nvSpPr>
          <p:cNvPr id="14" name="Shape 12"/>
          <p:cNvSpPr/>
          <p:nvPr/>
        </p:nvSpPr>
        <p:spPr>
          <a:xfrm>
            <a:off x="8046720" y="1783080"/>
            <a:ext cx="3520440" cy="1691640"/>
          </a:xfrm>
          <a:prstGeom prst="roundRect">
            <a:avLst>
              <a:gd name="adj" fmla="val 4865"/>
            </a:avLst>
          </a:prstGeom>
          <a:solidFill>
            <a:srgbClr val="EEF2FF"/>
          </a:solidFill>
          <a:ln/>
        </p:spPr>
      </p:sp>
      <p:sp>
        <p:nvSpPr>
          <p:cNvPr id="15" name="Text 13"/>
          <p:cNvSpPr txBox="1"/>
          <p:nvPr/>
        </p:nvSpPr>
        <p:spPr>
          <a:xfrm>
            <a:off x="8211312" y="1920240"/>
            <a:ext cx="3191256" cy="502920"/>
          </a:xfrm>
          <a:prstGeom prst="rect">
            <a:avLst/>
          </a:prstGeom>
          <a:noFill/>
          <a:ln/>
        </p:spPr>
        <p:txBody>
          <a:bodyPr wrap="square" lIns="0" tIns="0" rIns="0" bIns="0" rtlCol="0" anchor="ctr"/>
          <a:lstStyle/>
          <a:p>
            <a:pPr indent="0" marL="0">
              <a:buNone/>
            </a:pPr>
            <a:r>
              <a:rPr lang="en-US" sz="1250" b="1" dirty="0">
                <a:solidFill>
                  <a:srgbClr val="312E81"/>
                </a:solidFill>
                <a:latin typeface="Calibri" pitchFamily="34" charset="0"/>
                <a:ea typeface="Calibri" pitchFamily="34" charset="-122"/>
                <a:cs typeface="Calibri" pitchFamily="34" charset="-120"/>
              </a:rPr>
              <a:t>(c) K=15 trajectory-mean loss</a:t>
            </a:r>
            <a:endParaRPr lang="en-US" sz="1250" dirty="0"/>
          </a:p>
        </p:txBody>
      </p:sp>
      <p:sp>
        <p:nvSpPr>
          <p:cNvPr id="16" name="Text 14"/>
          <p:cNvSpPr txBox="1"/>
          <p:nvPr/>
        </p:nvSpPr>
        <p:spPr>
          <a:xfrm>
            <a:off x="8211312" y="2423160"/>
            <a:ext cx="3191256" cy="274320"/>
          </a:xfrm>
          <a:prstGeom prst="rect">
            <a:avLst/>
          </a:prstGeom>
          <a:noFill/>
          <a:ln/>
        </p:spPr>
        <p:txBody>
          <a:bodyPr wrap="square" lIns="0" tIns="0" rIns="0" bIns="0" rtlCol="0" anchor="ctr"/>
          <a:lstStyle/>
          <a:p>
            <a:pPr indent="0" marL="0">
              <a:buNone/>
            </a:pPr>
            <a:r>
              <a:rPr lang="en-US" sz="1100" b="1" dirty="0">
                <a:solidFill>
                  <a:srgbClr val="D97706"/>
                </a:solidFill>
                <a:latin typeface="Calibri" pitchFamily="34" charset="0"/>
                <a:ea typeface="Calibri" pitchFamily="34" charset="-122"/>
                <a:cs typeface="Calibri" pitchFamily="34" charset="-120"/>
              </a:rPr>
              <a:t>Pilot</a:t>
            </a:r>
            <a:endParaRPr lang="en-US" sz="1100" dirty="0"/>
          </a:p>
        </p:txBody>
      </p:sp>
      <p:sp>
        <p:nvSpPr>
          <p:cNvPr id="17" name="Text 15"/>
          <p:cNvSpPr txBox="1"/>
          <p:nvPr/>
        </p:nvSpPr>
        <p:spPr>
          <a:xfrm>
            <a:off x="8211312" y="2697480"/>
            <a:ext cx="3191256" cy="731520"/>
          </a:xfrm>
          <a:prstGeom prst="rect">
            <a:avLst/>
          </a:prstGeom>
          <a:noFill/>
          <a:ln/>
        </p:spPr>
        <p:txBody>
          <a:bodyPr wrap="square" lIns="0" tIns="0" rIns="0" bIns="0" rtlCol="0" anchor="ctr"/>
          <a:lstStyle/>
          <a:p>
            <a:pPr indent="0" marL="0">
              <a:lnSpc>
                <a:spcPct val="115000"/>
              </a:lnSpc>
              <a:buNone/>
            </a:pPr>
            <a:r>
              <a:rPr lang="en-US" sz="1050" dirty="0">
                <a:solidFill>
                  <a:srgbClr val="64748B"/>
                </a:solidFill>
                <a:latin typeface="Calibri" pitchFamily="34" charset="0"/>
                <a:ea typeface="Calibri" pitchFamily="34" charset="-122"/>
                <a:cs typeface="Calibri" pitchFamily="34" charset="-120"/>
              </a:rPr>
              <a:t>Explored as a follow-up; not used for the reported variants.</a:t>
            </a:r>
            <a:endParaRPr lang="en-US" sz="10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3703320"/>
          <a:ext cx="10908792" cy="2286000"/>
        </p:xfrm>
        <a:graphic>
          <a:graphicData uri="http://schemas.openxmlformats.org/drawingml/2006/table">
            <a:tbl>
              <a:tblPr/>
              <a:tblGrid>
                <a:gridCol w="1828800"/>
                <a:gridCol w="2834640"/>
                <a:gridCol w="3200400"/>
                <a:gridCol w="3044952"/>
              </a:tblGrid>
              <a:tr h="381000">
                <a:tc>
                  <a:txBody>
                    <a:bodyPr/>
                    <a:lstStyle/>
                    <a:p>
                      <a:pPr indent="0" marL="0">
                        <a:buNone/>
                      </a:pPr>
                      <a:r>
                        <a:rPr lang="en-US" sz="1200" b="1" dirty="0">
                          <a:solidFill>
                            <a:srgbClr val="000000"/>
                          </a:solidFill>
                        </a:rPr>
                        <a:t>Model</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indent="0" marL="0">
                        <a:buNone/>
                      </a:pPr>
                      <a:r>
                        <a:rPr lang="en-US" sz="1200" b="1" dirty="0">
                          <a:solidFill>
                            <a:srgbClr val="000000"/>
                          </a:solidFill>
                        </a:rPr>
                        <a:t>Objective</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indent="0" marL="0">
                        <a:buNone/>
                      </a:pPr>
                      <a:r>
                        <a:rPr lang="en-US" sz="1200" b="1" dirty="0">
                          <a:solidFill>
                            <a:srgbClr val="000000"/>
                          </a:solidFill>
                        </a:rPr>
                        <a:t>Noise in training</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indent="0" marL="0">
                        <a:buNone/>
                      </a:pPr>
                      <a:r>
                        <a:rPr lang="en-US" sz="1200" b="1" dirty="0">
                          <a:solidFill>
                            <a:srgbClr val="000000"/>
                          </a:solidFill>
                        </a:rPr>
                        <a:t>Hardware input</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r>
              <a:tr h="381000">
                <a:tc>
                  <a:txBody>
                    <a:bodyPr/>
                    <a:lstStyle/>
                    <a:p>
                      <a:pPr indent="0" marL="0">
                        <a:buNone/>
                      </a:pPr>
                      <a:r>
                        <a:rPr lang="en-US" sz="1200" b="1" dirty="0">
                          <a:solidFill>
                            <a:srgbClr val="312E81"/>
                          </a:solidFill>
                        </a:rPr>
                        <a:t>GNN-GD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3 unrolled GD steps</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none</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fixed medium/ring</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381000">
                <a:tc>
                  <a:txBody>
                    <a:bodyPr/>
                    <a:lstStyle/>
                    <a:p>
                      <a:pPr indent="0" marL="0">
                        <a:buNone/>
                      </a:pPr>
                      <a:r>
                        <a:rPr lang="en-US" sz="1200" b="1" dirty="0">
                          <a:solidFill>
                            <a:srgbClr val="312E81"/>
                          </a:solidFill>
                        </a:rPr>
                        <a:t>GNN-GD-A</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indent="0" marL="0">
                        <a:buNone/>
                      </a:pPr>
                      <a:r>
                        <a:rPr lang="en-US" sz="1200" dirty="0">
                          <a:solidFill>
                            <a:srgbClr val="312E81"/>
                          </a:solidFill>
                        </a:rPr>
                        <a:t>3 unrolled GD steps</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indent="0" marL="0">
                        <a:buNone/>
                      </a:pPr>
                      <a:r>
                        <a:rPr lang="en-US" sz="1200" dirty="0">
                          <a:solidFill>
                            <a:srgbClr val="312E81"/>
                          </a:solidFill>
                        </a:rPr>
                        <a:t>none</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indent="0" marL="0">
                        <a:buNone/>
                      </a:pPr>
                      <a:r>
                        <a:rPr lang="en-US" sz="1200" dirty="0">
                          <a:solidFill>
                            <a:srgbClr val="312E81"/>
                          </a:solidFill>
                        </a:rPr>
                        <a:t>removed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r h="381000">
                <a:tc>
                  <a:txBody>
                    <a:bodyPr/>
                    <a:lstStyle/>
                    <a:p>
                      <a:pPr indent="0" marL="0">
                        <a:buNone/>
                      </a:pPr>
                      <a:r>
                        <a:rPr lang="en-US" sz="1200" b="1" dirty="0">
                          <a:solidFill>
                            <a:srgbClr val="312E81"/>
                          </a:solidFill>
                        </a:rPr>
                        <a:t>GNN-GD-B</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3 unrolled GD steps</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per instance, varied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varied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381000">
                <a:tc>
                  <a:txBody>
                    <a:bodyPr/>
                    <a:lstStyle/>
                    <a:p>
                      <a:pPr indent="0" marL="0">
                        <a:buNone/>
                      </a:pPr>
                      <a:r>
                        <a:rPr lang="en-US" sz="1200" b="1" dirty="0">
                          <a:solidFill>
                            <a:srgbClr val="312E81"/>
                          </a:solidFill>
                        </a:rPr>
                        <a:t>GNN-A</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indent="0" marL="0">
                        <a:buNone/>
                      </a:pPr>
                      <a:r>
                        <a:rPr lang="en-US" sz="1200" dirty="0">
                          <a:solidFill>
                            <a:srgbClr val="312E81"/>
                          </a:solidFill>
                        </a:rPr>
                        <a:t>3 unrolled QNGD steps</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indent="0" marL="0">
                        <a:buNone/>
                      </a:pPr>
                      <a:r>
                        <a:rPr lang="en-US" sz="1200" dirty="0">
                          <a:solidFill>
                            <a:srgbClr val="312E81"/>
                          </a:solidFill>
                        </a:rPr>
                        <a:t>none</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indent="0" marL="0">
                        <a:buNone/>
                      </a:pPr>
                      <a:r>
                        <a:rPr lang="en-US" sz="1200" dirty="0">
                          <a:solidFill>
                            <a:srgbClr val="312E81"/>
                          </a:solidFill>
                        </a:rPr>
                        <a:t>removed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r h="381000">
                <a:tc>
                  <a:txBody>
                    <a:bodyPr/>
                    <a:lstStyle/>
                    <a:p>
                      <a:pPr indent="0" marL="0">
                        <a:buNone/>
                      </a:pPr>
                      <a:r>
                        <a:rPr lang="en-US" sz="1200" b="1" dirty="0">
                          <a:solidFill>
                            <a:srgbClr val="312E81"/>
                          </a:solidFill>
                        </a:rPr>
                        <a:t>GNN-B</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3 unrolled QNGD steps</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per instance, varied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indent="0" marL="0">
                        <a:buNone/>
                      </a:pPr>
                      <a:r>
                        <a:rPr lang="en-US" sz="1200" dirty="0">
                          <a:solidFill>
                            <a:srgbClr val="312E81"/>
                          </a:solidFill>
                        </a:rPr>
                        <a:t>varied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BASELINE</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VQE+QNGD is the real baseline to beat</a:t>
            </a:r>
            <a:endParaRPr lang="en-US" sz="2900" dirty="0"/>
          </a:p>
        </p:txBody>
      </p:sp>
      <p:sp>
        <p:nvSpPr>
          <p:cNvPr id="4" name="Shape 2"/>
          <p:cNvSpPr/>
          <p:nvPr/>
        </p:nvSpPr>
        <p:spPr>
          <a:xfrm>
            <a:off x="640080" y="1783080"/>
            <a:ext cx="2468880" cy="1463040"/>
          </a:xfrm>
          <a:prstGeom prst="roundRect">
            <a:avLst>
              <a:gd name="adj" fmla="val 6250"/>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5" name="Text 3"/>
          <p:cNvSpPr txBox="1"/>
          <p:nvPr/>
        </p:nvSpPr>
        <p:spPr>
          <a:xfrm>
            <a:off x="777240" y="1920240"/>
            <a:ext cx="2194560" cy="777240"/>
          </a:xfrm>
          <a:prstGeom prst="rect">
            <a:avLst/>
          </a:prstGeom>
          <a:noFill/>
          <a:ln/>
        </p:spPr>
        <p:txBody>
          <a:bodyPr wrap="square" lIns="0" tIns="0" rIns="0" bIns="0" rtlCol="0" anchor="b"/>
          <a:lstStyle/>
          <a:p>
            <a:pPr algn="ctr" indent="0" marL="0">
              <a:buNone/>
            </a:pPr>
            <a:r>
              <a:rPr lang="en-US" sz="3400" b="1" dirty="0">
                <a:solidFill>
                  <a:srgbClr val="059669"/>
                </a:solidFill>
                <a:latin typeface="Cambria" pitchFamily="34" charset="0"/>
                <a:ea typeface="Cambria" pitchFamily="34" charset="-122"/>
                <a:cs typeface="Cambria" pitchFamily="34" charset="-120"/>
              </a:rPr>
              <a:t>94%</a:t>
            </a:r>
            <a:endParaRPr lang="en-US" sz="3400" dirty="0"/>
          </a:p>
        </p:txBody>
      </p:sp>
      <p:sp>
        <p:nvSpPr>
          <p:cNvPr id="6" name="Text 4"/>
          <p:cNvSpPr txBox="1"/>
          <p:nvPr/>
        </p:nvSpPr>
        <p:spPr>
          <a:xfrm>
            <a:off x="777240" y="2743200"/>
            <a:ext cx="219456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fewer circuit executions overall, QNGD vs original VQE</a:t>
            </a:r>
            <a:endParaRPr lang="en-US" sz="1150" dirty="0"/>
          </a:p>
        </p:txBody>
      </p:sp>
      <p:sp>
        <p:nvSpPr>
          <p:cNvPr id="7" name="Shape 5"/>
          <p:cNvSpPr/>
          <p:nvPr/>
        </p:nvSpPr>
        <p:spPr>
          <a:xfrm>
            <a:off x="3246120" y="1783080"/>
            <a:ext cx="2468880" cy="1463040"/>
          </a:xfrm>
          <a:prstGeom prst="roundRect">
            <a:avLst>
              <a:gd name="adj" fmla="val 6250"/>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8" name="Text 6"/>
          <p:cNvSpPr txBox="1"/>
          <p:nvPr/>
        </p:nvSpPr>
        <p:spPr>
          <a:xfrm>
            <a:off x="3383280" y="1920240"/>
            <a:ext cx="2194560" cy="777240"/>
          </a:xfrm>
          <a:prstGeom prst="rect">
            <a:avLst/>
          </a:prstGeom>
          <a:noFill/>
          <a:ln/>
        </p:spPr>
        <p:txBody>
          <a:bodyPr wrap="square" lIns="0" tIns="0" rIns="0" bIns="0" rtlCol="0" anchor="b"/>
          <a:lstStyle/>
          <a:p>
            <a:pPr algn="ctr" indent="0" marL="0">
              <a:buNone/>
            </a:pPr>
            <a:r>
              <a:rPr lang="en-US" sz="3400" b="1" dirty="0">
                <a:solidFill>
                  <a:srgbClr val="4F46E5"/>
                </a:solidFill>
                <a:latin typeface="Cambria" pitchFamily="34" charset="0"/>
                <a:ea typeface="Cambria" pitchFamily="34" charset="-122"/>
                <a:cs typeface="Cambria" pitchFamily="34" charset="-120"/>
              </a:rPr>
              <a:t>82%</a:t>
            </a:r>
            <a:endParaRPr lang="en-US" sz="3400" dirty="0"/>
          </a:p>
        </p:txBody>
      </p:sp>
      <p:sp>
        <p:nvSpPr>
          <p:cNvPr id="9" name="Text 7"/>
          <p:cNvSpPr txBox="1"/>
          <p:nvPr/>
        </p:nvSpPr>
        <p:spPr>
          <a:xfrm>
            <a:off x="3383280" y="2743200"/>
            <a:ext cx="219456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QNGD success rate (vs 54% for original VQE)</a:t>
            </a:r>
            <a:endParaRPr lang="en-US" sz="1150" dirty="0"/>
          </a:p>
        </p:txBody>
      </p:sp>
      <p:sp>
        <p:nvSpPr>
          <p:cNvPr id="10" name="Shape 8"/>
          <p:cNvSpPr/>
          <p:nvPr/>
        </p:nvSpPr>
        <p:spPr>
          <a:xfrm>
            <a:off x="5852160" y="1783080"/>
            <a:ext cx="2468880" cy="1463040"/>
          </a:xfrm>
          <a:prstGeom prst="roundRect">
            <a:avLst>
              <a:gd name="adj" fmla="val 6250"/>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11" name="Text 9"/>
          <p:cNvSpPr txBox="1"/>
          <p:nvPr/>
        </p:nvSpPr>
        <p:spPr>
          <a:xfrm>
            <a:off x="5989320" y="1920240"/>
            <a:ext cx="2194560" cy="777240"/>
          </a:xfrm>
          <a:prstGeom prst="rect">
            <a:avLst/>
          </a:prstGeom>
          <a:noFill/>
          <a:ln/>
        </p:spPr>
        <p:txBody>
          <a:bodyPr wrap="square" lIns="0" tIns="0" rIns="0" bIns="0" rtlCol="0" anchor="b"/>
          <a:lstStyle/>
          <a:p>
            <a:pPr algn="ctr" indent="0" marL="0">
              <a:buNone/>
            </a:pPr>
            <a:r>
              <a:rPr lang="en-US" sz="3400" b="1" dirty="0">
                <a:solidFill>
                  <a:srgbClr val="D97706"/>
                </a:solidFill>
                <a:latin typeface="Cambria" pitchFamily="34" charset="0"/>
                <a:ea typeface="Cambria" pitchFamily="34" charset="-122"/>
                <a:cs typeface="Cambria" pitchFamily="34" charset="-120"/>
              </a:rPr>
              <a:t>474</a:t>
            </a:r>
            <a:endParaRPr lang="en-US" sz="3400" dirty="0"/>
          </a:p>
        </p:txBody>
      </p:sp>
      <p:sp>
        <p:nvSpPr>
          <p:cNvPr id="12" name="Text 10"/>
          <p:cNvSpPr txBox="1"/>
          <p:nvPr/>
        </p:nvSpPr>
        <p:spPr>
          <a:xfrm>
            <a:off x="5989320" y="2743200"/>
            <a:ext cx="2194560"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paired runs, 6 family/size combinations, 158 held-out instances</a:t>
            </a:r>
            <a:endParaRPr lang="en-US" sz="1150" dirty="0"/>
          </a:p>
        </p:txBody>
      </p:sp>
      <p:sp>
        <p:nvSpPr>
          <p:cNvPr id="13" name="Shape 11"/>
          <p:cNvSpPr/>
          <p:nvPr/>
        </p:nvSpPr>
        <p:spPr>
          <a:xfrm>
            <a:off x="8458200" y="1783080"/>
            <a:ext cx="3090672" cy="1463040"/>
          </a:xfrm>
          <a:prstGeom prst="roundRect">
            <a:avLst>
              <a:gd name="adj" fmla="val 6250"/>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14" name="Text 12"/>
          <p:cNvSpPr txBox="1"/>
          <p:nvPr/>
        </p:nvSpPr>
        <p:spPr>
          <a:xfrm>
            <a:off x="8595360" y="1920240"/>
            <a:ext cx="2816352" cy="777240"/>
          </a:xfrm>
          <a:prstGeom prst="rect">
            <a:avLst/>
          </a:prstGeom>
          <a:noFill/>
          <a:ln/>
        </p:spPr>
        <p:txBody>
          <a:bodyPr wrap="square" lIns="0" tIns="0" rIns="0" bIns="0" rtlCol="0" anchor="b"/>
          <a:lstStyle/>
          <a:p>
            <a:pPr algn="ctr" indent="0" marL="0">
              <a:buNone/>
            </a:pPr>
            <a:r>
              <a:rPr lang="en-US" sz="3400" b="1" dirty="0">
                <a:solidFill>
                  <a:srgbClr val="7C3AED"/>
                </a:solidFill>
                <a:latin typeface="Cambria" pitchFamily="34" charset="0"/>
                <a:ea typeface="Cambria" pitchFamily="34" charset="-122"/>
                <a:cs typeface="Cambria" pitchFamily="34" charset="-120"/>
              </a:rPr>
              <a:t>12q</a:t>
            </a:r>
            <a:endParaRPr lang="en-US" sz="3400" dirty="0"/>
          </a:p>
        </p:txBody>
      </p:sp>
      <p:sp>
        <p:nvSpPr>
          <p:cNvPr id="15" name="Text 13"/>
          <p:cNvSpPr txBox="1"/>
          <p:nvPr/>
        </p:nvSpPr>
        <p:spPr>
          <a:xfrm>
            <a:off x="8595360" y="2743200"/>
            <a:ext cx="2816352"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unseen qubit count, reserved entirely for test</a:t>
            </a:r>
            <a:endParaRPr lang="en-US" sz="11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3520440"/>
          <a:ext cx="10908792" cy="2697480"/>
        </p:xfrm>
        <a:graphic>
          <a:graphicData uri="http://schemas.openxmlformats.org/drawingml/2006/table">
            <a:tbl>
              <a:tblPr/>
              <a:tblGrid>
                <a:gridCol w="3931920"/>
                <a:gridCol w="2322576"/>
                <a:gridCol w="2322576"/>
                <a:gridCol w="2331720"/>
              </a:tblGrid>
              <a:tr h="385354">
                <a:tc>
                  <a:txBody>
                    <a:bodyPr/>
                    <a:lstStyle/>
                    <a:p>
                      <a:pPr indent="0" marL="0">
                        <a:buNone/>
                      </a:pPr>
                      <a:r>
                        <a:rPr lang="en-US" sz="1250" b="1" dirty="0">
                          <a:solidFill>
                            <a:srgbClr val="000000"/>
                          </a:solidFill>
                        </a:rPr>
                        <a:t>Family</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50" b="1" dirty="0">
                          <a:solidFill>
                            <a:srgbClr val="000000"/>
                          </a:solidFill>
                        </a:rPr>
                        <a:t>Original VQE</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50" b="1" dirty="0">
                          <a:solidFill>
                            <a:srgbClr val="000000"/>
                          </a:solidFill>
                        </a:rPr>
                        <a:t>VQE+QNGD</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50" b="1" dirty="0">
                          <a:solidFill>
                            <a:srgbClr val="000000"/>
                          </a:solidFill>
                        </a:rPr>
                        <a:t>Reduction</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r>
              <a:tr h="385354">
                <a:tc>
                  <a:txBody>
                    <a:bodyPr/>
                    <a:lstStyle/>
                    <a:p>
                      <a:pPr algn="l" indent="0" marL="0">
                        <a:buNone/>
                      </a:pPr>
                      <a:r>
                        <a:rPr lang="en-US" sz="1250" b="1" dirty="0">
                          <a:solidFill>
                            <a:srgbClr val="312E81"/>
                          </a:solidFill>
                        </a:rPr>
                        <a:t>Fermi-Hubbard (4q)</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54%</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78%</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94.0%</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385354">
                <a:tc>
                  <a:txBody>
                    <a:bodyPr/>
                    <a:lstStyle/>
                    <a:p>
                      <a:pPr algn="l" indent="0" marL="0">
                        <a:buNone/>
                      </a:pPr>
                      <a:r>
                        <a:rPr lang="en-US" sz="1250" b="1" dirty="0">
                          <a:solidFill>
                            <a:srgbClr val="312E81"/>
                          </a:solidFill>
                        </a:rPr>
                        <a:t>Fermi-Hubbard (6q)</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50%</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73%</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93.2%</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r h="385354">
                <a:tc>
                  <a:txBody>
                    <a:bodyPr/>
                    <a:lstStyle/>
                    <a:p>
                      <a:pPr algn="l" indent="0" marL="0">
                        <a:buNone/>
                      </a:pPr>
                      <a:r>
                        <a:rPr lang="en-US" sz="1250" b="1" dirty="0">
                          <a:solidFill>
                            <a:srgbClr val="312E81"/>
                          </a:solidFill>
                        </a:rPr>
                        <a:t>Fermi-Hubbard (8q)</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46%</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74%</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93.8%</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385354">
                <a:tc>
                  <a:txBody>
                    <a:bodyPr/>
                    <a:lstStyle/>
                    <a:p>
                      <a:pPr algn="l" indent="0" marL="0">
                        <a:buNone/>
                      </a:pPr>
                      <a:r>
                        <a:rPr lang="en-US" sz="1250" b="1" dirty="0">
                          <a:solidFill>
                            <a:srgbClr val="312E81"/>
                          </a:solidFill>
                        </a:rPr>
                        <a:t>Transverse-Ising (8q)</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94%</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96%</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97.6%</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r h="385354">
                <a:tc>
                  <a:txBody>
                    <a:bodyPr/>
                    <a:lstStyle/>
                    <a:p>
                      <a:pPr algn="l" indent="0" marL="0">
                        <a:buNone/>
                      </a:pPr>
                      <a:r>
                        <a:rPr lang="en-US" sz="1250" b="1" dirty="0">
                          <a:solidFill>
                            <a:srgbClr val="312E81"/>
                          </a:solidFill>
                        </a:rPr>
                        <a:t>Heisenberg-XYZ (4q)</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40%</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90%</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50" dirty="0">
                          <a:solidFill>
                            <a:srgbClr val="312E81"/>
                          </a:solidFill>
                        </a:rPr>
                        <a:t>94.7%</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385354">
                <a:tc>
                  <a:txBody>
                    <a:bodyPr/>
                    <a:lstStyle/>
                    <a:p>
                      <a:pPr algn="l" indent="0" marL="0">
                        <a:buNone/>
                      </a:pPr>
                      <a:r>
                        <a:rPr lang="en-US" sz="1250" b="1" dirty="0">
                          <a:solidFill>
                            <a:srgbClr val="312E81"/>
                          </a:solidFill>
                        </a:rPr>
                        <a:t>Heisenberg-XYZ (12q, unseen)</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8%</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71%</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50" dirty="0">
                          <a:solidFill>
                            <a:srgbClr val="312E81"/>
                          </a:solidFill>
                        </a:rPr>
                        <a:t>92.2%</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bl>
          </a:graphicData>
        </a:graphic>
      </p:graphicFrame>
      <p:sp>
        <p:nvSpPr>
          <p:cNvPr id="17" name="Text 14"/>
          <p:cNvSpPr txBox="1"/>
          <p:nvPr/>
        </p:nvSpPr>
        <p:spPr>
          <a:xfrm>
            <a:off x="640080" y="6263640"/>
            <a:ext cx="10908792" cy="32004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Success = "reached" column. Reduction = median circuit executions saved, where both methods succeed.</a:t>
            </a:r>
            <a:endParaRPr lang="en-US" sz="10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RESULTS</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GNN initialization under device noise</a:t>
            </a:r>
            <a:endParaRPr lang="en-US" sz="29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783080"/>
          <a:ext cx="7223760" cy="3931920"/>
        </p:xfrm>
        <a:graphic>
          <a:graphicData uri="http://schemas.openxmlformats.org/drawingml/2006/table">
            <a:tbl>
              <a:tblPr/>
              <a:tblGrid>
                <a:gridCol w="1371600"/>
                <a:gridCol w="1170432"/>
                <a:gridCol w="1170432"/>
                <a:gridCol w="1170432"/>
                <a:gridCol w="1170432"/>
                <a:gridCol w="1170432"/>
              </a:tblGrid>
              <a:tr h="491490">
                <a:tc>
                  <a:txBody>
                    <a:bodyPr/>
                    <a:lstStyle/>
                    <a:p>
                      <a:pPr indent="0" marL="0">
                        <a:buNone/>
                      </a:pPr>
                      <a:r>
                        <a:rPr lang="en-US" sz="1200" b="1" dirty="0">
                          <a:solidFill>
                            <a:srgbClr val="000000"/>
                          </a:solidFill>
                        </a:rPr>
                        <a:t>Group</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00" b="1" dirty="0">
                          <a:solidFill>
                            <a:srgbClr val="000000"/>
                          </a:solidFill>
                        </a:rPr>
                        <a:t>GNN-GD</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00" b="1" dirty="0">
                          <a:solidFill>
                            <a:srgbClr val="000000"/>
                          </a:solidFill>
                        </a:rPr>
                        <a:t>GNN-GD-A</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00" b="1" dirty="0">
                          <a:solidFill>
                            <a:srgbClr val="000000"/>
                          </a:solidFill>
                        </a:rPr>
                        <a:t>GNN-GD-B</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00" b="1" dirty="0">
                          <a:solidFill>
                            <a:srgbClr val="000000"/>
                          </a:solidFill>
                        </a:rPr>
                        <a:t>GNN-A</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c>
                  <a:txBody>
                    <a:bodyPr/>
                    <a:lstStyle/>
                    <a:p>
                      <a:pPr indent="0" marL="0">
                        <a:buNone/>
                      </a:pPr>
                      <a:r>
                        <a:rPr lang="en-US" sz="1200" b="1" dirty="0">
                          <a:solidFill>
                            <a:srgbClr val="000000"/>
                          </a:solidFill>
                        </a:rPr>
                        <a:t>GNN-B</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1E1B4B"/>
                    </a:solidFill>
                  </a:tcPr>
                </a:tc>
              </a:tr>
              <a:tr h="491490">
                <a:tc>
                  <a:txBody>
                    <a:bodyPr/>
                    <a:lstStyle/>
                    <a:p>
                      <a:pPr indent="0" marL="0">
                        <a:buNone/>
                      </a:pPr>
                      <a:r>
                        <a:rPr lang="en-US" sz="1200" b="1" dirty="0">
                          <a:solidFill>
                            <a:srgbClr val="312E81"/>
                          </a:solidFill>
                        </a:rPr>
                        <a:t>FH-4</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rPr>
                        <a:t>+10.5%</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-23.6%</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-34.5%</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-28.7%</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-24.5%</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491490">
                <a:tc>
                  <a:txBody>
                    <a:bodyPr/>
                    <a:lstStyle/>
                    <a:p>
                      <a:pPr indent="0" marL="0">
                        <a:buNone/>
                      </a:pPr>
                      <a:r>
                        <a:rPr lang="en-US" sz="1200" b="1" dirty="0">
                          <a:solidFill>
                            <a:srgbClr val="312E81"/>
                          </a:solidFill>
                        </a:rPr>
                        <a:t>FH-6</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DC2626"/>
                          </a:solidFill>
                        </a:rPr>
                        <a:t>-2.7%</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DC2626"/>
                          </a:solidFill>
                        </a:rPr>
                        <a:t>-3.9%</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rPr>
                        <a:t>+1.0%</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rPr>
                        <a:t>+7.1%</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rPr>
                        <a:t>+11.6%</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r h="491490">
                <a:tc>
                  <a:txBody>
                    <a:bodyPr/>
                    <a:lstStyle/>
                    <a:p>
                      <a:pPr indent="0" marL="0">
                        <a:buNone/>
                      </a:pPr>
                      <a:r>
                        <a:rPr lang="en-US" sz="1200" b="1" dirty="0">
                          <a:solidFill>
                            <a:srgbClr val="312E81"/>
                          </a:solidFill>
                        </a:rPr>
                        <a:t>FH-8</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-14.1%</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-12.0%</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-4.2%</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-3.5%</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-6.4%</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491490">
                <a:tc>
                  <a:txBody>
                    <a:bodyPr/>
                    <a:lstStyle/>
                    <a:p>
                      <a:pPr indent="0" marL="0">
                        <a:buNone/>
                      </a:pPr>
                      <a:r>
                        <a:rPr lang="en-US" sz="1200" b="1" dirty="0">
                          <a:solidFill>
                            <a:srgbClr val="312E81"/>
                          </a:solidFill>
                        </a:rPr>
                        <a:t>TI-8</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DC2626"/>
                          </a:solidFill>
                        </a:rPr>
                        <a:t>-35.6%</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DC2626"/>
                          </a:solidFill>
                        </a:rPr>
                        <a:t>-35.6%</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rPr>
                        <a:t>+92.2%</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rPr>
                        <a:t>+92.0%</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c>
                  <a:txBody>
                    <a:bodyPr/>
                    <a:lstStyle/>
                    <a:p>
                      <a:pPr algn="ctr" indent="0" marL="0">
                        <a:buNone/>
                      </a:pPr>
                      <a:r>
                        <a:rPr lang="en-US" sz="1200" b="1" dirty="0">
                          <a:solidFill>
                            <a:srgbClr val="059669"/>
                          </a:solidFill>
                        </a:rPr>
                        <a:t>+94.4%</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EEF2FF"/>
                    </a:solidFill>
                  </a:tcPr>
                </a:tc>
              </a:tr>
              <a:tr h="491490">
                <a:tc>
                  <a:txBody>
                    <a:bodyPr/>
                    <a:lstStyle/>
                    <a:p>
                      <a:pPr indent="0" marL="0">
                        <a:buNone/>
                      </a:pPr>
                      <a:r>
                        <a:rPr lang="en-US" sz="1200" b="1" dirty="0">
                          <a:solidFill>
                            <a:srgbClr val="312E81"/>
                          </a:solidFill>
                        </a:rPr>
                        <a:t>XYZ-4</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-11.0%</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DC2626"/>
                          </a:solidFill>
                        </a:rPr>
                        <a:t>-14.1%</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rPr>
                        <a:t>+21.8%</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rPr>
                        <a:t>+19.7%</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200" b="1" dirty="0">
                          <a:solidFill>
                            <a:srgbClr val="059669"/>
                          </a:solidFill>
                        </a:rPr>
                        <a:t>+5.8%</a:t>
                      </a:r>
                      <a:endParaRPr lang="en-US" sz="120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r h="491490">
                <a:tc>
                  <a:txBody>
                    <a:bodyPr/>
                    <a:lstStyle/>
                    <a:p>
                      <a:pPr indent="0" marL="0">
                        <a:buNone/>
                      </a:pPr>
                      <a:r>
                        <a:rPr lang="en-US" sz="1250" b="1" dirty="0">
                          <a:solidFill>
                            <a:srgbClr val="000000"/>
                          </a:solidFill>
                        </a:rPr>
                        <a:t>All</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algn="ctr" indent="0" marL="0">
                        <a:buNone/>
                      </a:pPr>
                      <a:r>
                        <a:rPr lang="en-US" sz="1250" b="1" dirty="0">
                          <a:solidFill>
                            <a:srgbClr val="000000"/>
                          </a:solidFill>
                        </a:rPr>
                        <a:t>-11.4%</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algn="ctr" indent="0" marL="0">
                        <a:buNone/>
                      </a:pPr>
                      <a:r>
                        <a:rPr lang="en-US" sz="1250" b="1" dirty="0">
                          <a:solidFill>
                            <a:srgbClr val="000000"/>
                          </a:solidFill>
                        </a:rPr>
                        <a:t>-15.8%</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algn="ctr" indent="0" marL="0">
                        <a:buNone/>
                      </a:pPr>
                      <a:r>
                        <a:rPr lang="en-US" sz="1250" b="1" dirty="0">
                          <a:solidFill>
                            <a:srgbClr val="000000"/>
                          </a:solidFill>
                        </a:rPr>
                        <a:t>+12.8%</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algn="ctr" indent="0" marL="0">
                        <a:buNone/>
                      </a:pPr>
                      <a:r>
                        <a:rPr lang="en-US" sz="1250" b="1" dirty="0">
                          <a:solidFill>
                            <a:srgbClr val="000000"/>
                          </a:solidFill>
                        </a:rPr>
                        <a:t>+15.1%</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c>
                  <a:txBody>
                    <a:bodyPr/>
                    <a:lstStyle/>
                    <a:p>
                      <a:pPr algn="ctr" indent="0" marL="0">
                        <a:buNone/>
                      </a:pPr>
                      <a:r>
                        <a:rPr lang="en-US" sz="1250" b="1" dirty="0">
                          <a:solidFill>
                            <a:srgbClr val="000000"/>
                          </a:solidFill>
                        </a:rPr>
                        <a:t>+14.9%</a:t>
                      </a:r>
                      <a:endParaRPr lang="en-US" sz="12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4F46E5"/>
                    </a:solidFill>
                  </a:tcPr>
                </a:tc>
              </a:tr>
              <a:tr h="491490">
                <a:tc>
                  <a:txBody>
                    <a:bodyPr/>
                    <a:lstStyle/>
                    <a:p>
                      <a:pPr indent="0" marL="0">
                        <a:buNone/>
                      </a:pPr>
                      <a:r>
                        <a:rPr lang="en-US" sz="1150" i="1" dirty="0">
                          <a:solidFill>
                            <a:srgbClr val="312E81"/>
                          </a:solidFill>
                        </a:rPr>
                        <a:t>Reached target</a:t>
                      </a:r>
                      <a:endParaRPr lang="en-US" sz="11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150" i="1" dirty="0">
                          <a:solidFill>
                            <a:srgbClr val="64748B"/>
                          </a:solidFill>
                        </a:rPr>
                        <a:t>19%</a:t>
                      </a:r>
                      <a:endParaRPr lang="en-US" sz="11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150" i="1" dirty="0">
                          <a:solidFill>
                            <a:srgbClr val="64748B"/>
                          </a:solidFill>
                        </a:rPr>
                        <a:t>12%</a:t>
                      </a:r>
                      <a:endParaRPr lang="en-US" sz="11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150" i="1" dirty="0">
                          <a:solidFill>
                            <a:srgbClr val="64748B"/>
                          </a:solidFill>
                        </a:rPr>
                        <a:t>52%</a:t>
                      </a:r>
                      <a:endParaRPr lang="en-US" sz="11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150" i="1" dirty="0">
                          <a:solidFill>
                            <a:srgbClr val="64748B"/>
                          </a:solidFill>
                        </a:rPr>
                        <a:t>53%</a:t>
                      </a:r>
                      <a:endParaRPr lang="en-US" sz="11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c>
                  <a:txBody>
                    <a:bodyPr/>
                    <a:lstStyle/>
                    <a:p>
                      <a:pPr algn="ctr" indent="0" marL="0">
                        <a:buNone/>
                      </a:pPr>
                      <a:r>
                        <a:rPr lang="en-US" sz="1150" i="1" dirty="0">
                          <a:solidFill>
                            <a:srgbClr val="64748B"/>
                          </a:solidFill>
                        </a:rPr>
                        <a:t>53%</a:t>
                      </a:r>
                      <a:endParaRPr lang="en-US" sz="1150" dirty="0"/>
                    </a:p>
                  </a:txBody>
                  <a:tcPr marL="91440" marR="91440" marT="45720" marB="45720" anchor="ctr">
                    <a:lnL w="9525" cap="flat" cmpd="sng" algn="ctr">
                      <a:solidFill>
                        <a:srgbClr val="D6D3E8"/>
                      </a:solidFill>
                      <a:prstDash val="solid"/>
                      <a:round/>
                      <a:headEnd type="none" w="med" len="med"/>
                      <a:tailEnd type="none" w="med" len="med"/>
                    </a:lnL>
                    <a:lnR w="9525" cap="flat" cmpd="sng" algn="ctr">
                      <a:solidFill>
                        <a:srgbClr val="D6D3E8"/>
                      </a:solidFill>
                      <a:prstDash val="solid"/>
                      <a:round/>
                      <a:headEnd type="none" w="med" len="med"/>
                      <a:tailEnd type="none" w="med" len="med"/>
                    </a:lnR>
                    <a:lnT w="9525" cap="flat" cmpd="sng" algn="ctr">
                      <a:solidFill>
                        <a:srgbClr val="D6D3E8"/>
                      </a:solidFill>
                      <a:prstDash val="solid"/>
                      <a:round/>
                      <a:headEnd type="none" w="med" len="med"/>
                      <a:tailEnd type="none" w="med" len="med"/>
                    </a:lnT>
                    <a:lnB w="9525" cap="flat" cmpd="sng" algn="ctr">
                      <a:solidFill>
                        <a:srgbClr val="D6D3E8"/>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640080" y="5806440"/>
            <a:ext cx="7223760" cy="365760"/>
          </a:xfrm>
          <a:prstGeom prst="rect">
            <a:avLst/>
          </a:prstGeom>
          <a:noFill/>
          <a:ln/>
        </p:spPr>
        <p:txBody>
          <a:bodyPr wrap="square" lIns="0" tIns="0" rIns="0" bIns="0" rtlCol="0" anchor="ctr"/>
          <a:lstStyle/>
          <a:p>
            <a:pPr indent="0" marL="0">
              <a:buNone/>
            </a:pPr>
            <a:r>
              <a:rPr lang="en-US" sz="1050" i="1" dirty="0">
                <a:solidFill>
                  <a:srgbClr val="64748B"/>
                </a:solidFill>
                <a:latin typeface="Calibri" pitchFamily="34" charset="0"/>
                <a:ea typeface="Calibri" pitchFamily="34" charset="-122"/>
                <a:cs typeface="Calibri" pitchFamily="34" charset="-120"/>
              </a:rPr>
              <a:t>% change in circuit executions vs. the random-init QNGD baseline — positive = fewer executions (better).</a:t>
            </a:r>
            <a:endParaRPr lang="en-US" sz="1050" dirty="0"/>
          </a:p>
        </p:txBody>
      </p:sp>
      <p:sp>
        <p:nvSpPr>
          <p:cNvPr id="6" name="Shape 3"/>
          <p:cNvSpPr/>
          <p:nvPr/>
        </p:nvSpPr>
        <p:spPr>
          <a:xfrm>
            <a:off x="8092440" y="1783080"/>
            <a:ext cx="3456432" cy="1417320"/>
          </a:xfrm>
          <a:prstGeom prst="roundRect">
            <a:avLst>
              <a:gd name="adj" fmla="val 6452"/>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7" name="Text 4"/>
          <p:cNvSpPr txBox="1"/>
          <p:nvPr/>
        </p:nvSpPr>
        <p:spPr>
          <a:xfrm>
            <a:off x="8229600" y="1920240"/>
            <a:ext cx="3182112" cy="731520"/>
          </a:xfrm>
          <a:prstGeom prst="rect">
            <a:avLst/>
          </a:prstGeom>
          <a:noFill/>
          <a:ln/>
        </p:spPr>
        <p:txBody>
          <a:bodyPr wrap="square" lIns="0" tIns="0" rIns="0" bIns="0" rtlCol="0" anchor="b"/>
          <a:lstStyle/>
          <a:p>
            <a:pPr algn="ctr" indent="0" marL="0">
              <a:buNone/>
            </a:pPr>
            <a:r>
              <a:rPr lang="en-US" sz="3000" b="1" dirty="0">
                <a:solidFill>
                  <a:srgbClr val="059669"/>
                </a:solidFill>
                <a:latin typeface="Cambria" pitchFamily="34" charset="0"/>
                <a:ea typeface="Cambria" pitchFamily="34" charset="-122"/>
                <a:cs typeface="Cambria" pitchFamily="34" charset="-120"/>
              </a:rPr>
              <a:t>+15.1%</a:t>
            </a:r>
            <a:endParaRPr lang="en-US" sz="3000" dirty="0"/>
          </a:p>
        </p:txBody>
      </p:sp>
      <p:sp>
        <p:nvSpPr>
          <p:cNvPr id="8" name="Text 5"/>
          <p:cNvSpPr txBox="1"/>
          <p:nvPr/>
        </p:nvSpPr>
        <p:spPr>
          <a:xfrm>
            <a:off x="8229600" y="2697480"/>
            <a:ext cx="3182112"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best overall — GNN-A, noise-aware, 53% reached target</a:t>
            </a:r>
            <a:endParaRPr lang="en-US" sz="1150" dirty="0"/>
          </a:p>
        </p:txBody>
      </p:sp>
      <p:sp>
        <p:nvSpPr>
          <p:cNvPr id="9" name="Shape 6"/>
          <p:cNvSpPr/>
          <p:nvPr/>
        </p:nvSpPr>
        <p:spPr>
          <a:xfrm>
            <a:off x="8092440" y="3337560"/>
            <a:ext cx="3456432" cy="1417320"/>
          </a:xfrm>
          <a:prstGeom prst="roundRect">
            <a:avLst>
              <a:gd name="adj" fmla="val 6452"/>
            </a:avLst>
          </a:prstGeom>
          <a:solidFill>
            <a:srgbClr val="FFFFFF"/>
          </a:solidFill>
          <a:ln w="15875">
            <a:solidFill>
              <a:srgbClr val="EEF2FF"/>
            </a:solidFill>
            <a:prstDash val="solid"/>
          </a:ln>
          <a:effectLst>
            <a:outerShdw sx="100000" sy="100000" kx="0" ky="0" algn="bl" rotWithShape="0" blurRad="127000" dist="38100" dir="5400000">
              <a:srgbClr val="312E81">
                <a:alpha val="18000"/>
              </a:srgbClr>
            </a:outerShdw>
          </a:effectLst>
        </p:spPr>
      </p:sp>
      <p:sp>
        <p:nvSpPr>
          <p:cNvPr id="10" name="Text 7"/>
          <p:cNvSpPr txBox="1"/>
          <p:nvPr/>
        </p:nvSpPr>
        <p:spPr>
          <a:xfrm>
            <a:off x="8229600" y="3474720"/>
            <a:ext cx="3182112" cy="731520"/>
          </a:xfrm>
          <a:prstGeom prst="rect">
            <a:avLst/>
          </a:prstGeom>
          <a:noFill/>
          <a:ln/>
        </p:spPr>
        <p:txBody>
          <a:bodyPr wrap="square" lIns="0" tIns="0" rIns="0" bIns="0" rtlCol="0" anchor="b"/>
          <a:lstStyle/>
          <a:p>
            <a:pPr algn="ctr" indent="0" marL="0">
              <a:buNone/>
            </a:pPr>
            <a:r>
              <a:rPr lang="en-US" sz="3000" b="1" dirty="0">
                <a:solidFill>
                  <a:srgbClr val="DC2626"/>
                </a:solidFill>
                <a:latin typeface="Cambria" pitchFamily="34" charset="0"/>
                <a:ea typeface="Cambria" pitchFamily="34" charset="-122"/>
                <a:cs typeface="Cambria" pitchFamily="34" charset="-120"/>
              </a:rPr>
              <a:t>−15.8%</a:t>
            </a:r>
            <a:endParaRPr lang="en-US" sz="3000" dirty="0"/>
          </a:p>
        </p:txBody>
      </p:sp>
      <p:sp>
        <p:nvSpPr>
          <p:cNvPr id="11" name="Text 8"/>
          <p:cNvSpPr txBox="1"/>
          <p:nvPr/>
        </p:nvSpPr>
        <p:spPr>
          <a:xfrm>
            <a:off x="8229600" y="4251960"/>
            <a:ext cx="3182112" cy="411480"/>
          </a:xfrm>
          <a:prstGeom prst="rect">
            <a:avLst/>
          </a:prstGeom>
          <a:noFill/>
          <a:ln/>
        </p:spPr>
        <p:txBody>
          <a:bodyPr wrap="square" lIns="0" tIns="0" rIns="0" bIns="0" rtlCol="0" anchor="t"/>
          <a:lstStyle/>
          <a:p>
            <a:pPr algn="ctr" indent="0" marL="0">
              <a:buNone/>
            </a:pPr>
            <a:r>
              <a:rPr lang="en-US" sz="1150" dirty="0">
                <a:solidFill>
                  <a:srgbClr val="64748B"/>
                </a:solidFill>
                <a:latin typeface="Calibri" pitchFamily="34" charset="0"/>
                <a:ea typeface="Calibri" pitchFamily="34" charset="-122"/>
                <a:cs typeface="Calibri" pitchFamily="34" charset="-120"/>
              </a:rPr>
              <a:t>worst overall — GNN-GD-A, hardware graph removed</a:t>
            </a:r>
            <a:endParaRPr lang="en-US" sz="1150" dirty="0"/>
          </a:p>
        </p:txBody>
      </p:sp>
      <p:sp>
        <p:nvSpPr>
          <p:cNvPr id="12" name="Shape 9"/>
          <p:cNvSpPr/>
          <p:nvPr/>
        </p:nvSpPr>
        <p:spPr>
          <a:xfrm>
            <a:off x="8092440" y="4892040"/>
            <a:ext cx="3456432" cy="1280160"/>
          </a:xfrm>
          <a:prstGeom prst="roundRect">
            <a:avLst>
              <a:gd name="adj" fmla="val 7143"/>
            </a:avLst>
          </a:prstGeom>
          <a:solidFill>
            <a:srgbClr val="EEF2FF"/>
          </a:solidFill>
          <a:ln/>
          <a:effectLst>
            <a:outerShdw sx="100000" sy="100000" kx="0" ky="0" algn="bl" rotWithShape="0" blurRad="127000" dist="38100" dir="5400000">
              <a:srgbClr val="312E81">
                <a:alpha val="18000"/>
              </a:srgbClr>
            </a:outerShdw>
          </a:effectLst>
        </p:spPr>
      </p:sp>
      <p:sp>
        <p:nvSpPr>
          <p:cNvPr id="13" name="Text 10"/>
          <p:cNvSpPr txBox="1"/>
          <p:nvPr/>
        </p:nvSpPr>
        <p:spPr>
          <a:xfrm>
            <a:off x="8293608" y="5074920"/>
            <a:ext cx="3054096" cy="365760"/>
          </a:xfrm>
          <a:prstGeom prst="rect">
            <a:avLst/>
          </a:prstGeom>
          <a:noFill/>
          <a:ln/>
        </p:spPr>
        <p:txBody>
          <a:bodyPr wrap="square" lIns="0" tIns="0" rIns="0" bIns="0" rtlCol="0" anchor="ctr"/>
          <a:lstStyle/>
          <a:p>
            <a:pPr indent="0" marL="0">
              <a:buNone/>
            </a:pPr>
            <a:r>
              <a:rPr lang="en-US" sz="1500" b="1" dirty="0">
                <a:solidFill>
                  <a:srgbClr val="4F46E5"/>
                </a:solidFill>
                <a:latin typeface="Calibri" pitchFamily="34" charset="0"/>
                <a:ea typeface="Calibri" pitchFamily="34" charset="-122"/>
                <a:cs typeface="Calibri" pitchFamily="34" charset="-120"/>
              </a:rPr>
              <a:t>The flip</a:t>
            </a:r>
            <a:endParaRPr lang="en-US" sz="1500" dirty="0"/>
          </a:p>
        </p:txBody>
      </p:sp>
      <p:sp>
        <p:nvSpPr>
          <p:cNvPr id="14" name="Text 11"/>
          <p:cNvSpPr txBox="1"/>
          <p:nvPr/>
        </p:nvSpPr>
        <p:spPr>
          <a:xfrm>
            <a:off x="8293608" y="5458968"/>
            <a:ext cx="3054096" cy="530352"/>
          </a:xfrm>
          <a:prstGeom prst="rect">
            <a:avLst/>
          </a:prstGeom>
          <a:noFill/>
          <a:ln/>
        </p:spPr>
        <p:txBody>
          <a:bodyPr wrap="square" lIns="0" tIns="0" rIns="0" bIns="0" rtlCol="0" anchor="t"/>
          <a:lstStyle/>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GNN-GD: best noiseless, worst under noise</a:t>
            </a:r>
            <a:endParaRPr lang="en-US" sz="1250" dirty="0"/>
          </a:p>
          <a:p>
            <a:pPr indent="0" marL="0">
              <a:lnSpc>
                <a:spcPct val="118000"/>
              </a:lnSpc>
              <a:buNone/>
            </a:pPr>
            <a:r>
              <a:rPr lang="en-US" sz="1250" dirty="0">
                <a:solidFill>
                  <a:srgbClr val="312E81"/>
                </a:solidFill>
                <a:latin typeface="Calibri" pitchFamily="34" charset="0"/>
                <a:ea typeface="Calibri" pitchFamily="34" charset="-122"/>
                <a:cs typeface="Calibri" pitchFamily="34" charset="-120"/>
              </a:rPr>
              <a:t>GNN-GD-B / GNN-A / GNN-B: all consistently positive under noise</a:t>
            </a:r>
            <a:endParaRPr lang="en-US" sz="12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INTERPRETATION</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What the results tell us</a:t>
            </a:r>
            <a:endParaRPr lang="en-US" sz="2900" dirty="0"/>
          </a:p>
        </p:txBody>
      </p:sp>
      <p:sp>
        <p:nvSpPr>
          <p:cNvPr id="4" name="Shape 2"/>
          <p:cNvSpPr/>
          <p:nvPr/>
        </p:nvSpPr>
        <p:spPr>
          <a:xfrm>
            <a:off x="640080" y="1783080"/>
            <a:ext cx="10908792" cy="1234440"/>
          </a:xfrm>
          <a:prstGeom prst="roundRect">
            <a:avLst>
              <a:gd name="adj" fmla="val 6667"/>
            </a:avLst>
          </a:prstGeom>
          <a:solidFill>
            <a:srgbClr val="EEF2FF"/>
          </a:solidFill>
          <a:ln/>
        </p:spPr>
      </p:sp>
      <p:sp>
        <p:nvSpPr>
          <p:cNvPr id="5" name="Shape 3"/>
          <p:cNvSpPr/>
          <p:nvPr/>
        </p:nvSpPr>
        <p:spPr>
          <a:xfrm>
            <a:off x="640080" y="1783080"/>
            <a:ext cx="82296" cy="1234440"/>
          </a:xfrm>
          <a:prstGeom prst="rect">
            <a:avLst/>
          </a:prstGeom>
          <a:solidFill>
            <a:srgbClr val="4F46E5"/>
          </a:solidFill>
          <a:ln/>
        </p:spPr>
      </p:sp>
      <p:sp>
        <p:nvSpPr>
          <p:cNvPr id="6" name="Text 4"/>
          <p:cNvSpPr txBox="1"/>
          <p:nvPr/>
        </p:nvSpPr>
        <p:spPr>
          <a:xfrm>
            <a:off x="960120" y="1920240"/>
            <a:ext cx="10332720" cy="365760"/>
          </a:xfrm>
          <a:prstGeom prst="rect">
            <a:avLst/>
          </a:prstGeom>
          <a:noFill/>
          <a:ln/>
        </p:spPr>
        <p:txBody>
          <a:bodyPr wrap="square" lIns="0" tIns="0" rIns="0" bIns="0"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No single variant wins both regimes — yet</a:t>
            </a:r>
            <a:endParaRPr lang="en-US" sz="1500" dirty="0"/>
          </a:p>
        </p:txBody>
      </p:sp>
      <p:sp>
        <p:nvSpPr>
          <p:cNvPr id="7" name="Text 5"/>
          <p:cNvSpPr txBox="1"/>
          <p:nvPr/>
        </p:nvSpPr>
        <p:spPr>
          <a:xfrm>
            <a:off x="960120" y="2313432"/>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Calibri" pitchFamily="34" charset="0"/>
                <a:ea typeface="Calibri" pitchFamily="34" charset="-122"/>
                <a:cs typeface="Calibri" pitchFamily="34" charset="-120"/>
              </a:rPr>
              <a:t>Noiseless and noisy performance trade off against each other. That's itself a result: it shows the training objective and noise-awareness are both load-bearing, separately.</a:t>
            </a:r>
            <a:endParaRPr lang="en-US" sz="1250" dirty="0"/>
          </a:p>
        </p:txBody>
      </p:sp>
      <p:sp>
        <p:nvSpPr>
          <p:cNvPr id="8" name="Shape 6"/>
          <p:cNvSpPr/>
          <p:nvPr/>
        </p:nvSpPr>
        <p:spPr>
          <a:xfrm>
            <a:off x="640080" y="3200400"/>
            <a:ext cx="10908792" cy="1234440"/>
          </a:xfrm>
          <a:prstGeom prst="roundRect">
            <a:avLst>
              <a:gd name="adj" fmla="val 6667"/>
            </a:avLst>
          </a:prstGeom>
          <a:solidFill>
            <a:srgbClr val="EEF2FF"/>
          </a:solidFill>
          <a:ln/>
        </p:spPr>
      </p:sp>
      <p:sp>
        <p:nvSpPr>
          <p:cNvPr id="9" name="Shape 7"/>
          <p:cNvSpPr/>
          <p:nvPr/>
        </p:nvSpPr>
        <p:spPr>
          <a:xfrm>
            <a:off x="640080" y="3200400"/>
            <a:ext cx="82296" cy="1234440"/>
          </a:xfrm>
          <a:prstGeom prst="rect">
            <a:avLst/>
          </a:prstGeom>
          <a:solidFill>
            <a:srgbClr val="D97706"/>
          </a:solidFill>
          <a:ln/>
        </p:spPr>
      </p:sp>
      <p:sp>
        <p:nvSpPr>
          <p:cNvPr id="10" name="Text 8"/>
          <p:cNvSpPr txBox="1"/>
          <p:nvPr/>
        </p:nvSpPr>
        <p:spPr>
          <a:xfrm>
            <a:off x="960120" y="3337560"/>
            <a:ext cx="10332720" cy="365760"/>
          </a:xfrm>
          <a:prstGeom prst="rect">
            <a:avLst/>
          </a:prstGeom>
          <a:noFill/>
          <a:ln/>
        </p:spPr>
        <p:txBody>
          <a:bodyPr wrap="square" lIns="0" tIns="0" rIns="0" bIns="0"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Lower start energy is anti-correlated with the final result</a:t>
            </a:r>
            <a:endParaRPr lang="en-US" sz="1500" dirty="0"/>
          </a:p>
        </p:txBody>
      </p:sp>
      <p:sp>
        <p:nvSpPr>
          <p:cNvPr id="11" name="Text 9"/>
          <p:cNvSpPr txBox="1"/>
          <p:nvPr/>
        </p:nvSpPr>
        <p:spPr>
          <a:xfrm>
            <a:off x="960120" y="3730752"/>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Calibri" pitchFamily="34" charset="0"/>
                <a:ea typeface="Calibri" pitchFamily="34" charset="-122"/>
                <a:cs typeface="Calibri" pitchFamily="34" charset="-120"/>
              </a:rPr>
              <a:t>Starting lower doesn't mean ending lower — consistent with short-horizon bias: a 3-step training horizon rewards starts that look good early and then stall.</a:t>
            </a:r>
            <a:endParaRPr lang="en-US" sz="1250" dirty="0"/>
          </a:p>
        </p:txBody>
      </p:sp>
      <p:sp>
        <p:nvSpPr>
          <p:cNvPr id="12" name="Shape 10"/>
          <p:cNvSpPr/>
          <p:nvPr/>
        </p:nvSpPr>
        <p:spPr>
          <a:xfrm>
            <a:off x="640080" y="4617720"/>
            <a:ext cx="10908792" cy="1234440"/>
          </a:xfrm>
          <a:prstGeom prst="roundRect">
            <a:avLst>
              <a:gd name="adj" fmla="val 6667"/>
            </a:avLst>
          </a:prstGeom>
          <a:solidFill>
            <a:srgbClr val="EEF2FF"/>
          </a:solidFill>
          <a:ln/>
        </p:spPr>
      </p:sp>
      <p:sp>
        <p:nvSpPr>
          <p:cNvPr id="13" name="Shape 11"/>
          <p:cNvSpPr/>
          <p:nvPr/>
        </p:nvSpPr>
        <p:spPr>
          <a:xfrm>
            <a:off x="640080" y="4617720"/>
            <a:ext cx="82296" cy="1234440"/>
          </a:xfrm>
          <a:prstGeom prst="rect">
            <a:avLst/>
          </a:prstGeom>
          <a:solidFill>
            <a:srgbClr val="7C3AED"/>
          </a:solidFill>
          <a:ln/>
        </p:spPr>
      </p:sp>
      <p:sp>
        <p:nvSpPr>
          <p:cNvPr id="14" name="Text 12"/>
          <p:cNvSpPr txBox="1"/>
          <p:nvPr/>
        </p:nvSpPr>
        <p:spPr>
          <a:xfrm>
            <a:off x="960120" y="4754880"/>
            <a:ext cx="10332720" cy="365760"/>
          </a:xfrm>
          <a:prstGeom prst="rect">
            <a:avLst/>
          </a:prstGeom>
          <a:noFill/>
          <a:ln/>
        </p:spPr>
        <p:txBody>
          <a:bodyPr wrap="square" lIns="0" tIns="0" rIns="0" bIns="0" rtlCol="0" anchor="ctr"/>
          <a:lstStyle/>
          <a:p>
            <a:pPr indent="0" marL="0">
              <a:buNone/>
            </a:pPr>
            <a:r>
              <a:rPr lang="en-US" sz="1500" b="1" dirty="0">
                <a:solidFill>
                  <a:srgbClr val="312E81"/>
                </a:solidFill>
                <a:latin typeface="Calibri" pitchFamily="34" charset="0"/>
                <a:ea typeface="Calibri" pitchFamily="34" charset="-122"/>
                <a:cs typeface="Calibri" pitchFamily="34" charset="-120"/>
              </a:rPr>
              <a:t>The 2-layer ansatz has a real expressivity ceiling</a:t>
            </a:r>
            <a:endParaRPr lang="en-US" sz="1500" dirty="0"/>
          </a:p>
        </p:txBody>
      </p:sp>
      <p:sp>
        <p:nvSpPr>
          <p:cNvPr id="15" name="Text 13"/>
          <p:cNvSpPr txBox="1"/>
          <p:nvPr/>
        </p:nvSpPr>
        <p:spPr>
          <a:xfrm>
            <a:off x="960120" y="5148072"/>
            <a:ext cx="10332720" cy="640080"/>
          </a:xfrm>
          <a:prstGeom prst="rect">
            <a:avLst/>
          </a:prstGeom>
          <a:noFill/>
          <a:ln/>
        </p:spPr>
        <p:txBody>
          <a:bodyPr wrap="square" lIns="0" tIns="0" rIns="0" bIns="0" rtlCol="0" anchor="ctr"/>
          <a:lstStyle/>
          <a:p>
            <a:pPr indent="0" marL="0">
              <a:lnSpc>
                <a:spcPct val="115000"/>
              </a:lnSpc>
              <a:buNone/>
            </a:pPr>
            <a:r>
              <a:rPr lang="en-US" sz="1250" dirty="0">
                <a:solidFill>
                  <a:srgbClr val="64748B"/>
                </a:solidFill>
                <a:latin typeface="Calibri" pitchFamily="34" charset="0"/>
                <a:ea typeface="Calibri" pitchFamily="34" charset="-122"/>
                <a:cs typeface="Calibri" pitchFamily="34" charset="-120"/>
              </a:rPr>
              <a:t>It frequently can't represent the true ground state at all, regardless of parameters — a measured ceiling, not an optimization failure.</a:t>
            </a:r>
            <a:endParaRPr lang="en-US" sz="12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640080" y="384048"/>
            <a:ext cx="9144000" cy="292608"/>
          </a:xfrm>
          <a:prstGeom prst="rect">
            <a:avLst/>
          </a:prstGeom>
          <a:noFill/>
          <a:ln/>
        </p:spPr>
        <p:txBody>
          <a:bodyPr wrap="square" rtlCol="0"/>
          <a:lstStyle/>
          <a:p>
            <a:pPr algn="l" indent="0" marL="0">
              <a:buNone/>
            </a:pPr>
            <a:r>
              <a:rPr lang="en-US" sz="1200" b="1" spc="200" kern="0" dirty="0">
                <a:solidFill>
                  <a:schemeClr val="accent1"/>
                </a:solidFill>
                <a:latin typeface="Calibri" pitchFamily="34" charset="0"/>
                <a:ea typeface="Calibri" pitchFamily="34" charset="-122"/>
                <a:cs typeface="Calibri" pitchFamily="34" charset="-120"/>
              </a:rPr>
              <a:t>STATUS</a:t>
            </a:r>
            <a:endParaRPr lang="en-US" sz="1200" dirty="0"/>
          </a:p>
        </p:txBody>
      </p:sp>
      <p:sp>
        <p:nvSpPr>
          <p:cNvPr id="3" name="Text 0"/>
          <p:cNvSpPr/>
          <p:nvPr>
            <p:ph idx="101" type="title" hasCustomPrompt="1"/>
          </p:nvPr>
        </p:nvSpPr>
        <p:spPr>
          <a:xfrm>
            <a:off x="640080" y="658368"/>
            <a:ext cx="10908792" cy="731520"/>
          </a:xfrm>
          <a:prstGeom prst="rect">
            <a:avLst/>
          </a:prstGeom>
          <a:noFill/>
          <a:ln/>
        </p:spPr>
        <p:txBody>
          <a:bodyPr wrap="square" rtlCol="0"/>
          <a:lstStyle/>
          <a:p>
            <a:pPr algn="l" indent="0" marL="0">
              <a:buNone/>
            </a:pPr>
            <a:r>
              <a:rPr lang="en-US" sz="2900" b="1" dirty="0">
                <a:solidFill>
                  <a:schemeClr val="tx1"/>
                </a:solidFill>
                <a:latin typeface="Cambria" pitchFamily="34" charset="0"/>
                <a:ea typeface="Cambria" pitchFamily="34" charset="-122"/>
                <a:cs typeface="Cambria" pitchFamily="34" charset="-120"/>
              </a:rPr>
              <a:t>Where we stand, and what's next</a:t>
            </a:r>
            <a:endParaRPr lang="en-US" sz="2900" dirty="0"/>
          </a:p>
        </p:txBody>
      </p:sp>
      <p:sp>
        <p:nvSpPr>
          <p:cNvPr id="4" name="Shape 2"/>
          <p:cNvSpPr/>
          <p:nvPr/>
        </p:nvSpPr>
        <p:spPr>
          <a:xfrm>
            <a:off x="640080" y="1783080"/>
            <a:ext cx="5349240" cy="4206240"/>
          </a:xfrm>
          <a:prstGeom prst="roundRect">
            <a:avLst>
              <a:gd name="adj" fmla="val 2174"/>
            </a:avLst>
          </a:prstGeom>
          <a:solidFill>
            <a:srgbClr val="EEF2FF"/>
          </a:solidFill>
          <a:ln/>
        </p:spPr>
      </p:sp>
      <p:sp>
        <p:nvSpPr>
          <p:cNvPr id="5" name="Text 3"/>
          <p:cNvSpPr txBox="1"/>
          <p:nvPr/>
        </p:nvSpPr>
        <p:spPr>
          <a:xfrm>
            <a:off x="868680" y="1920240"/>
            <a:ext cx="4892040" cy="365760"/>
          </a:xfrm>
          <a:prstGeom prst="rect">
            <a:avLst/>
          </a:prstGeom>
          <a:noFill/>
          <a:ln/>
        </p:spPr>
        <p:txBody>
          <a:bodyPr wrap="square" lIns="0" tIns="0" rIns="0" bIns="0" rtlCol="0" anchor="ctr"/>
          <a:lstStyle/>
          <a:p>
            <a:pPr indent="0" marL="0">
              <a:buNone/>
            </a:pPr>
            <a:r>
              <a:rPr lang="en-US" sz="1500" b="1" dirty="0">
                <a:solidFill>
                  <a:srgbClr val="059669"/>
                </a:solidFill>
                <a:latin typeface="Calibri" pitchFamily="34" charset="0"/>
                <a:ea typeface="Calibri" pitchFamily="34" charset="-122"/>
                <a:cs typeface="Calibri" pitchFamily="34" charset="-120"/>
              </a:rPr>
              <a:t>Done</a:t>
            </a:r>
            <a:endParaRPr lang="en-US" sz="1500" dirty="0"/>
          </a:p>
        </p:txBody>
      </p:sp>
      <p:sp>
        <p:nvSpPr>
          <p:cNvPr id="6" name="Text 4"/>
          <p:cNvSpPr txBox="1"/>
          <p:nvPr/>
        </p:nvSpPr>
        <p:spPr>
          <a:xfrm>
            <a:off x="868680" y="2331720"/>
            <a:ext cx="4892040" cy="35661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Honest, device-level circuit-execution accounting</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Exact-diagonalization ground truth (not dataset self-reports)</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All 3 graph representations built and validated</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VQE+QNGD baseline established (94% reduction)</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5 trained GNN variants, noiseless + noisy evaluation</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Custom differentiable noise simulator, validated</a:t>
            </a:r>
            <a:endParaRPr lang="en-US" sz="1250" dirty="0"/>
          </a:p>
        </p:txBody>
      </p:sp>
      <p:sp>
        <p:nvSpPr>
          <p:cNvPr id="7" name="Shape 5"/>
          <p:cNvSpPr/>
          <p:nvPr/>
        </p:nvSpPr>
        <p:spPr>
          <a:xfrm>
            <a:off x="6199632" y="1783080"/>
            <a:ext cx="5349240" cy="4206240"/>
          </a:xfrm>
          <a:prstGeom prst="roundRect">
            <a:avLst>
              <a:gd name="adj" fmla="val 2174"/>
            </a:avLst>
          </a:prstGeom>
          <a:solidFill>
            <a:srgbClr val="1E1B4B"/>
          </a:solidFill>
          <a:ln/>
        </p:spPr>
      </p:sp>
      <p:sp>
        <p:nvSpPr>
          <p:cNvPr id="8" name="Text 6"/>
          <p:cNvSpPr txBox="1"/>
          <p:nvPr/>
        </p:nvSpPr>
        <p:spPr>
          <a:xfrm>
            <a:off x="6428232" y="1920240"/>
            <a:ext cx="4892040" cy="365760"/>
          </a:xfrm>
          <a:prstGeom prst="rect">
            <a:avLst/>
          </a:prstGeom>
          <a:noFill/>
          <a:ln/>
        </p:spPr>
        <p:txBody>
          <a:bodyPr wrap="square" lIns="0" tIns="0" rIns="0" bIns="0" rtlCol="0" anchor="ctr"/>
          <a:lstStyle/>
          <a:p>
            <a:pPr indent="0" marL="0">
              <a:buNone/>
            </a:pPr>
            <a:r>
              <a:rPr lang="en-US" sz="1500" b="1" dirty="0">
                <a:solidFill>
                  <a:srgbClr val="D97706"/>
                </a:solidFill>
                <a:latin typeface="Calibri" pitchFamily="34" charset="0"/>
                <a:ea typeface="Calibri" pitchFamily="34" charset="-122"/>
                <a:cs typeface="Calibri" pitchFamily="34" charset="-120"/>
              </a:rPr>
              <a:t>Next</a:t>
            </a:r>
            <a:endParaRPr lang="en-US" sz="1500" dirty="0"/>
          </a:p>
        </p:txBody>
      </p:sp>
      <p:sp>
        <p:nvSpPr>
          <p:cNvPr id="9" name="Text 7"/>
          <p:cNvSpPr txBox="1"/>
          <p:nvPr/>
        </p:nvSpPr>
        <p:spPr>
          <a:xfrm>
            <a:off x="6428232" y="2331720"/>
            <a:ext cx="4892040" cy="3566160"/>
          </a:xfrm>
          <a:prstGeom prst="rect">
            <a:avLst/>
          </a:prstGeom>
          <a:noFill/>
          <a:ln/>
        </p:spPr>
        <p:txBody>
          <a:bodyPr wrap="square" lIns="0" tIns="0" rIns="0" bIns="0" rtlCol="0" anchor="t"/>
          <a:lstStyle/>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Geometry-aware training signal — feed the QNGD metric into the loss directly</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Deeper / adaptive ansatz, to remove the expressivity ceiling</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Broaden the noise study across more presets and topologies</a:t>
            </a:r>
            <a:endParaRPr lang="en-US" sz="1250" dirty="0"/>
          </a:p>
          <a:p>
            <a:pPr marL="228600" indent="-228600">
              <a:lnSpc>
                <a:spcPct val="115000"/>
              </a:lnSpc>
              <a:spcAft>
                <a:spcPts val="1200"/>
              </a:spcAft>
              <a:buSzPct val="100000"/>
              <a:buChar char="●"/>
            </a:pPr>
            <a:r>
              <a:rPr lang="en-US" sz="1250" dirty="0">
                <a:solidFill>
                  <a:srgbClr val="312E81"/>
                </a:solidFill>
                <a:latin typeface="Calibri" pitchFamily="34" charset="0"/>
                <a:ea typeface="Calibri" pitchFamily="34" charset="-122"/>
                <a:cs typeface="Calibri" pitchFamily="34" charset="-120"/>
              </a:rPr>
              <a:t>Scale past 12 qubits with a trusted approximate reference</a:t>
            </a:r>
            <a:endParaRPr lang="en-US" sz="1250" dirty="0"/>
          </a:p>
        </p:txBody>
      </p:sp>
      <p:sp>
        <p:nvSpPr>
          <p:cNvPr id="25" name="Slide Number Placeholder 0"/>
          <p:cNvSpPr>
            <a:spLocks noGrp="1"/>
          </p:cNvSpPr>
          <p:nvPr>
            <p:ph type="sldNum" sz="quarter" idx="4294967295"/>
          </p:nvPr>
        </p:nvSpPr>
        <p:spPr>
          <a:xfrm>
            <a:off x="11612880" y="6510528"/>
            <a:ext cx="800000" cy="30000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731520" y="2651760"/>
            <a:ext cx="10698480" cy="1188720"/>
          </a:xfrm>
          <a:prstGeom prst="rect">
            <a:avLst/>
          </a:prstGeom>
          <a:noFill/>
          <a:ln/>
        </p:spPr>
        <p:txBody>
          <a:bodyPr wrap="square" rtlCol="0"/>
          <a:lstStyle/>
          <a:p>
            <a:pPr algn="l" indent="0" marL="0">
              <a:buNone/>
            </a:pPr>
            <a:r>
              <a:rPr lang="en-US" sz="4400" b="1" dirty="0">
                <a:solidFill>
                  <a:schemeClr val="bg1"/>
                </a:solidFill>
                <a:latin typeface="Cambria" pitchFamily="34" charset="0"/>
                <a:ea typeface="Cambria" pitchFamily="34" charset="-122"/>
                <a:cs typeface="Cambria" pitchFamily="34" charset="-120"/>
              </a:rPr>
              <a:t>Thank you</a:t>
            </a:r>
            <a:endParaRPr lang="en-US" sz="4400" dirty="0"/>
          </a:p>
        </p:txBody>
      </p:sp>
      <p:sp>
        <p:nvSpPr>
          <p:cNvPr id="3" name="Text 0"/>
          <p:cNvSpPr/>
          <p:nvPr>
            <p:ph idx="101" type="body" hasCustomPrompt="1"/>
          </p:nvPr>
        </p:nvSpPr>
        <p:spPr>
          <a:xfrm>
            <a:off x="731520" y="3794760"/>
            <a:ext cx="10332720" cy="548640"/>
          </a:xfrm>
          <a:prstGeom prst="rect">
            <a:avLst/>
          </a:prstGeom>
          <a:noFill/>
          <a:ln/>
        </p:spPr>
        <p:txBody>
          <a:bodyPr wrap="square" rtlCol="0"/>
          <a:lstStyle/>
          <a:p>
            <a:pPr algn="l" indent="0" marL="0">
              <a:buNone/>
            </a:pPr>
            <a:r>
              <a:rPr lang="en-US" sz="1800" dirty="0">
                <a:solidFill>
                  <a:schemeClr val="bg2"/>
                </a:solidFill>
                <a:latin typeface="Calibri" pitchFamily="34" charset="0"/>
                <a:ea typeface="Calibri" pitchFamily="34" charset="-122"/>
                <a:cs typeface="Calibri" pitchFamily="34" charset="-120"/>
              </a:rPr>
              <a:t>Questions and discussion</a:t>
            </a:r>
            <a:endParaRPr lang="en-US" sz="1800" dirty="0"/>
          </a:p>
        </p:txBody>
      </p:sp>
      <p:sp>
        <p:nvSpPr>
          <p:cNvPr id="4" name="Shape 2"/>
          <p:cNvSpPr/>
          <p:nvPr/>
        </p:nvSpPr>
        <p:spPr>
          <a:xfrm>
            <a:off x="-1371600" y="3931920"/>
            <a:ext cx="4114800" cy="4114800"/>
          </a:xfrm>
          <a:prstGeom prst="ellipse">
            <a:avLst/>
          </a:prstGeom>
          <a:solidFill>
            <a:srgbClr val="4F46E5">
              <a:alpha val="18000"/>
            </a:srgbClr>
          </a:solidFill>
          <a:ln/>
        </p:spPr>
      </p:sp>
      <p:sp>
        <p:nvSpPr>
          <p:cNvPr id="5" name="Shape 3"/>
          <p:cNvSpPr/>
          <p:nvPr/>
        </p:nvSpPr>
        <p:spPr>
          <a:xfrm>
            <a:off x="9692640" y="-1645920"/>
            <a:ext cx="3291840" cy="3291840"/>
          </a:xfrm>
          <a:prstGeom prst="ellipse">
            <a:avLst/>
          </a:prstGeom>
          <a:solidFill>
            <a:srgbClr val="D97706">
              <a:alpha val="20000"/>
            </a:srgbClr>
          </a:solidFill>
          <a:ln/>
        </p:spPr>
      </p:sp>
      <p:sp>
        <p:nvSpPr>
          <p:cNvPr id="6" name="Text 4"/>
          <p:cNvSpPr txBox="1"/>
          <p:nvPr/>
        </p:nvSpPr>
        <p:spPr>
          <a:xfrm>
            <a:off x="731520" y="6172200"/>
            <a:ext cx="10698480" cy="365760"/>
          </a:xfrm>
          <a:prstGeom prst="rect">
            <a:avLst/>
          </a:prstGeom>
          <a:noFill/>
          <a:ln/>
        </p:spPr>
        <p:txBody>
          <a:bodyPr wrap="square" lIns="0" tIns="0" rIns="0" bIns="0" rtlCol="0" anchor="ctr"/>
          <a:lstStyle/>
          <a:p>
            <a:pPr indent="0" marL="0">
              <a:buNone/>
            </a:pPr>
            <a:r>
              <a:rPr lang="en-US" sz="1250" dirty="0">
                <a:solidFill>
                  <a:srgbClr val="000000"/>
                </a:solidFill>
                <a:latin typeface="Calibri" pitchFamily="34" charset="0"/>
                <a:ea typeface="Calibri" pitchFamily="34" charset="-122"/>
                <a:cs typeface="Calibri" pitchFamily="34" charset="-120"/>
              </a:rPr>
              <a:t>Noise-Aware GNN Initialization for VQE + QNGD   ·   FYP Review II</a:t>
            </a:r>
            <a:endParaRPr lang="en-US" sz="1250" dirty="0"/>
          </a:p>
        </p:txBody>
      </p:sp>
    </p:spTree>
  </p:cSld>
  <p:clrMapOvr>
    <a:masterClrMapping/>
  </p:clrMapOvr>
</p:sld>
</file>

<file path=ppt/theme/theme1.xml><?xml version="1.0" encoding="utf-8"?>
<a:theme xmlns:a="http://schemas.openxmlformats.org/drawingml/2006/main" name="QuantumIndigo">
  <a:themeElements>
    <a:clrScheme name="QuantumIndigo">
      <a:dk1>
        <a:srgbClr val="312E81"/>
      </a:dk1>
      <a:lt1>
        <a:srgbClr val="FFFFFF"/>
      </a:lt1>
      <a:dk2>
        <a:srgbClr val="1E1B4B"/>
      </a:dk2>
      <a:lt2>
        <a:srgbClr val="EEF2FF"/>
      </a:lt2>
      <a:accent1>
        <a:srgbClr val="4F46E5"/>
      </a:accent1>
      <a:accent2>
        <a:srgbClr val="D97706"/>
      </a:accent2>
      <a:accent3>
        <a:srgbClr val="059669"/>
      </a:accent3>
      <a:accent4>
        <a:srgbClr val="DC2626"/>
      </a:accent4>
      <a:accent5>
        <a:srgbClr val="64748B"/>
      </a:accent5>
      <a:accent6>
        <a:srgbClr val="7C3AED"/>
      </a:accent6>
      <a:hlink>
        <a:srgbClr val="4F46E5"/>
      </a:hlink>
      <a:folHlink>
        <a:srgbClr val="7C3AED"/>
      </a:folHlink>
    </a:clrScheme>
    <a:fontScheme name="QuantumIndigo">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2026-10-20T10:29:54Z</dcterms:created>
  <dcterms:modified xsi:type="dcterms:W3CDTF">2026-10-20T10:29:54Z</dcterms:modified>
</cp:coreProperties>
</file>